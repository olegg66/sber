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949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abstract_corporate_tech_background_illustrati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E3D4"/>
                </a:solidFill>
              </a:rPr>
              <a:t>Задания 2–3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8368" y="1298448"/>
            <a:ext cx="7315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Агент генерации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клиентских презентаций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85800" y="278892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F6F0"/>
                </a:solidFill>
              </a:rPr>
              <a:t>RAG + OpenSearch + GigaChat API + python-pptx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3310128"/>
            <a:ext cx="6217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Плюс система валидации: тестовый набор, метрики, сравнение версий и проверка качества .pptx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5257800"/>
            <a:ext cx="1645920" cy="292608"/>
          </a:xfrm>
          <a:prstGeom prst="roundRect">
            <a:avLst/>
          </a:prstGeom>
          <a:solidFill>
            <a:srgbClr val="127855"/>
          </a:solidFill>
          <a:ln>
            <a:solidFill>
              <a:srgbClr val="1278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готовый прототип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87168" y="5257800"/>
            <a:ext cx="1691640" cy="292608"/>
          </a:xfrm>
          <a:prstGeom prst="roundRect">
            <a:avLst/>
          </a:prstGeom>
          <a:solidFill>
            <a:srgbClr val="2A8061"/>
          </a:solidFill>
          <a:ln>
            <a:solidFill>
              <a:srgbClr val="2A8061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Jupyter Notebook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343400" y="5257800"/>
            <a:ext cx="1828800" cy="292608"/>
          </a:xfrm>
          <a:prstGeom prst="roundRect">
            <a:avLst/>
          </a:prstGeom>
          <a:solidFill>
            <a:srgbClr val="398D6D"/>
          </a:solidFill>
          <a:ln>
            <a:solidFill>
              <a:srgbClr val="398D6D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PowerPoint .pptx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989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5E7DE"/>
                </a:solidFill>
              </a:rPr>
              <a:t>Итог: код агента, инструкция запуска, примеры презентаций и методика проверки улучшений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требовалось сделать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Итоговая система должна не только генерировать слайды, но и измерять, стало ли качество лучше после изменения пайплайна.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3337560" cy="4892040"/>
          </a:xfrm>
          <a:prstGeom prst="roundRect">
            <a:avLst>
              <a:gd name="adj" fmla="val 3288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36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27855"/>
                </a:solidFill>
              </a:rPr>
              <a:t>ЗАДАНИЕ 2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68680" y="1755648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Агент генерации презентаций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6974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на входе папка data/ с клиентами, продуктами, заметками и новостями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на выходе именно .pptx, а не текстовый план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подбор продуктов под конкретного клиента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использование только релевантных новостей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стек: RAG + OpenSearch + GigaChat API</a:t>
            </a:r>
            <a:endParaRPr lang="en-US" sz="133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337560" cy="4892040"/>
          </a:xfrm>
          <a:prstGeom prst="roundRect">
            <a:avLst>
              <a:gd name="adj" fmla="val 3288"/>
            </a:avLst>
          </a:prstGeom>
          <a:solidFill>
            <a:srgbClr val="FBF7E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536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D3912B"/>
                </a:solidFill>
              </a:rPr>
              <a:t>ЗАДАНИЕ 3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4709160" y="1755648"/>
            <a:ext cx="2697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39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Валидация агента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514600"/>
            <a:ext cx="26974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единый тестовый набор по клиентам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автоматические метрики retrieval, generation и .pptx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сравнение версий: prompt, retrieval, чанкинг, верстка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кэширование прогонов и артефактов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понятный ответ: лучше или хуже стало</a:t>
            </a:r>
            <a:endParaRPr lang="en-US" sz="1330" dirty="0"/>
          </a:p>
        </p:txBody>
      </p:sp>
      <p:sp>
        <p:nvSpPr>
          <p:cNvPr id="13" name="Shape 11"/>
          <p:cNvSpPr/>
          <p:nvPr/>
        </p:nvSpPr>
        <p:spPr>
          <a:xfrm>
            <a:off x="8275320" y="1234440"/>
            <a:ext cx="3246120" cy="48920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53619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27855"/>
                </a:solidFill>
              </a:rPr>
              <a:t>ФОРМАТ СДАЧИ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8549640" y="1755648"/>
            <a:ext cx="25603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Git-репозиторий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49640" y="2514600"/>
            <a:ext cx="251460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код прототипа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инструкция запуска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1–2 примера .pptx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описание тестов и метрик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результаты сравнения baseline / candidate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Исходные данные и смысл каждого файла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Данные маленькие, но специально разнотипные: профиль клиента, продукты, внутренние ограничения и шумные новости.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80744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clients.json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31720" y="1353312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профиль клиента, риски, темы встречи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1720" y="1719072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 → описание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23744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products.json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31720" y="2496312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каталог финансовых продуктов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2862072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продукт → описание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66744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internal_notes.json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3172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правила и ограничения продаж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31720" y="4005072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массив заметок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85800" y="4663440"/>
            <a:ext cx="37490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09744"/>
            <a:ext cx="1417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news.csv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31720" y="4782312"/>
            <a:ext cx="1828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новостной поток из Telegram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31720" y="5148072"/>
            <a:ext cx="1783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title, text, source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983480" y="1170432"/>
            <a:ext cx="2926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важно сохранить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983480" y="1691640"/>
            <a:ext cx="2926080" cy="3108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Внутренние заметки имеют приоритет над общими описаниями продуктов.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Новости не должны подбираться только по похожести: нужны прямые упоминания клиента.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У источника Telegram надо извлекать канал: https://t.me/s/banksta → @banksta.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Если по клиенту нет прямых новостей, лучше честно показать пустой блок, чем вставить нерелевантный шум.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75320" y="1234440"/>
            <a:ext cx="3246120" cy="2331720"/>
          </a:xfrm>
          <a:prstGeom prst="rect">
            <a:avLst/>
          </a:prstGeom>
          <a:solidFill>
            <a:srgbClr val="F7F7F4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Пример нормализации новости: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title_clean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text_clean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source_url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source_name = @channel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search_text = title + text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direct_clients = ["РЖД"]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275320" y="3950208"/>
            <a:ext cx="3246120" cy="1554480"/>
          </a:xfrm>
          <a:prstGeom prst="roundRect">
            <a:avLst>
              <a:gd name="adj" fmla="val 7059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4224528"/>
            <a:ext cx="2651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риск данных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49640" y="4590288"/>
            <a:ext cx="260604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Новостной CSV содержит много публикаций, которые вообще не относятся к клиентам: макро, политика, военные темы, реклама каналов. Их нельзя без фильтра передавать в LLM.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Общая архитектура решения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Логика разделена на поиск фактов, генерацию текста и программную сборку PowerPoint.</a:t>
            </a:r>
            <a:endParaRPr lang="en-US" sz="950" dirty="0"/>
          </a:p>
        </p:txBody>
      </p:sp>
      <p:pic>
        <p:nvPicPr>
          <p:cNvPr id="5" name="Image 0" descr="/mnt/data/wide_clean_stylized_infographic_tech_diagram_sc_batch_2.png"/>
          <p:cNvPicPr>
            <a:picLocks noChangeAspect="1"/>
          </p:cNvPicPr>
          <p:nvPr/>
        </p:nvPicPr>
        <p:blipFill>
          <a:blip r:embed="rId3"/>
          <a:srcRect t="27518" b="27518"/>
          <a:stretch/>
        </p:blipFill>
        <p:spPr>
          <a:xfrm>
            <a:off x="502920" y="1143000"/>
            <a:ext cx="1120140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44348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4626864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Data layer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32688" y="4956048"/>
            <a:ext cx="1508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JSON/CSV → документы единого формата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44348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18688" y="4626864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Retrieval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18688" y="4956048"/>
            <a:ext cx="1508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BM25 + k-NN → RRF → context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57800" y="44348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04688" y="4626864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GigaChat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504688" y="4956048"/>
            <a:ext cx="1508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нейтральный JSON-план презентации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43800" y="44348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90688" y="4626864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Guardrails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90688" y="4956048"/>
            <a:ext cx="1508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продуктов, новостей, fallback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829800" y="443484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04120" y="4626864"/>
            <a:ext cx="1051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.pptx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104120" y="4956048"/>
            <a:ext cx="960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python-pptx и единый стиль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Инфраструктура запуска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Проект разворачивается локально из D:/sber; OpenSearch запускается в Docker, Notebook работает с localhost:9200.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3657600" cy="4206240"/>
          </a:xfrm>
          <a:prstGeom prst="rect">
            <a:avLst/>
          </a:prstGeom>
          <a:solidFill>
            <a:srgbClr val="F7F7F4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D:/sber/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clients.json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products.json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internal_notes.json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news.csv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outputs/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evaluation/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client_presentation_agent.ipynb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client_presentation_validation.py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docker-compose.yml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.env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9204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/ OpenSearch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92040" y="1719072"/>
            <a:ext cx="27889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 Desktop заранее установлен и запущен.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docker compose up -d скачивает образ и стартует контейнер.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OpenSearch доступен из Notebook по localhost:9200.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При WSL 2 память управляется через Windows / .wslconfig, а не через ползунок Docker Desktop.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4251960"/>
            <a:ext cx="2788920" cy="1005840"/>
          </a:xfrm>
          <a:prstGeom prst="rect">
            <a:avLst/>
          </a:prstGeom>
          <a:solidFill>
            <a:srgbClr val="F2FAF6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D:/sber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 http://localhost:9200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7532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GigaChat API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75320" y="1719072"/>
            <a:ext cx="292608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ключ хранится в .env, не попадает в Git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GigaChat используется для генерации текста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эмбеддинги считаются локально, чтобы не требовать платный endpoint /embeddings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для физического ключа не полагаемся на strict structured output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0" y="4526280"/>
            <a:ext cx="2926080" cy="841248"/>
          </a:xfrm>
          <a:prstGeom prst="rect">
            <a:avLst/>
          </a:prstGeom>
          <a:solidFill>
            <a:srgbClr val="F2FAF6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GIGACHAT_CREDENTIALS=...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GIGACHAT_SCOPE=GIGACHAT_API_PERS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GIGACHAT_CHAT_MODEL=GigaChat-2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Предобработка новостей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Перед индексацией новости нужно привести к виду, безопасному для retrieval и генерации.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1554480" cy="685800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HTML decode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&amp;amp; → &amp;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572768"/>
            <a:ext cx="54864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71800" y="1234440"/>
            <a:ext cx="1737360" cy="685800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убрать повторы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title из text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572768"/>
            <a:ext cx="54864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349240" y="1234440"/>
            <a:ext cx="1737360" cy="685800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source_url →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source_name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0" y="1572768"/>
            <a:ext cx="54864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26680" y="1234440"/>
            <a:ext cx="1463040" cy="685800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алиасы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клиентов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235440" y="1572768"/>
            <a:ext cx="54864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829800" y="1234440"/>
            <a:ext cx="1554480" cy="685800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safe direct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news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не хватило простого contains()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2944368"/>
            <a:ext cx="393192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строка «РЖД» может встретиться в нерелевантном тексте только как вторичное упоминание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короткие аббревиатуры нужно искать по границам токенов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для новости клиента лучше требовать прямое упоминание в заголовке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чувствительные публикации фильтруются до передачи в GigaChat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212080" y="2487168"/>
            <a:ext cx="2880360" cy="2423160"/>
          </a:xfrm>
          <a:prstGeom prst="rect">
            <a:avLst/>
          </a:prstGeom>
          <a:solidFill>
            <a:srgbClr val="F7F7F4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filter_safe_direct_news(news, client):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item in news: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contains_client_alias(item["title"], client):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is_sensitive_news(item):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continue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item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549640" y="2487168"/>
            <a:ext cx="2834640" cy="2423160"/>
          </a:xfrm>
          <a:prstGeom prst="roundRect">
            <a:avLst>
              <a:gd name="adj" fmla="val 4528"/>
            </a:avLst>
          </a:prstGeom>
          <a:solidFill>
            <a:srgbClr val="FBF7E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2761488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39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23960" y="3127248"/>
            <a:ext cx="22402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Новость «IPO РЖД и Wildberries…» проходит как прямая. Материал про ЮГК, где РЖД упомянута лишь из-за БАМа и Транссиба, отсекается.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Индексация и retrieval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Все записи приводятся к единому документному формату и попадают в OpenSearch.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2194560" cy="2331720"/>
          </a:xfrm>
          <a:prstGeom prst="rect">
            <a:avLst/>
          </a:prstGeom>
          <a:solidFill>
            <a:srgbClr val="FFFFFF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doc_id,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doc_type,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client_names,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embedding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19202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BM25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title^4 + text^2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0" y="2788920"/>
            <a:ext cx="19202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k-NN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local E5 embeddings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29400" y="2103120"/>
            <a:ext cx="2011680" cy="822960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RRF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reciprocal rank fusion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89720" y="2103120"/>
            <a:ext cx="1600200" cy="822960"/>
          </a:xfrm>
          <a:prstGeom prst="roundRect">
            <a:avLst/>
          </a:prstGeom>
          <a:solidFill>
            <a:srgbClr val="127855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top-k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0" y="1874520"/>
            <a:ext cx="566928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74720" y="2971800"/>
            <a:ext cx="566928" cy="18288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0760" y="1783080"/>
            <a:ext cx="484632" cy="484632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0760" y="3154680"/>
            <a:ext cx="484632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705088" y="2514600"/>
            <a:ext cx="420624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160520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гибридный поиск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60520" y="4736592"/>
            <a:ext cx="30632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BM25 хорошо ловит точные названия: РЖД, IRS, FX Forward.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Векторный поиск ловит смысл: «стоимость фондирования», «валютные платежи».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RRF стабилизирует итоговый рейтинг без ручного выбора одной метрики.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763524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Локальные эмбеддинги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35240" y="4736592"/>
            <a:ext cx="32461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sentence-transformers: multilingual-e5-small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documents: passage: ...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queries: query: ...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GigaChat embeddings не нужны, поэтому нет 402 Payment Required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Подбор продуктовых тем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Продукты выбираются не по общему «похожему слову», а по профилю клиента и внутренним ограничениям.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17320"/>
            <a:ext cx="2606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Вход в product retrieval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26060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описание клиента из clients.json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внутренняя заметка по этому клиенту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задача: управление рисками, ликвидностью, фондированием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doc_type=product, без фильтра клиента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14300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BF7E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17320"/>
            <a:ext cx="2606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39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1874520"/>
            <a:ext cx="26060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GigaChat получает только candidate products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после генерации список продуктов сверяется с retrieval-контекстом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если модель придумала продукт — он удаляется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условные продукты помечаются как «требует подтверждения»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83880" y="1143000"/>
            <a:ext cx="3246120" cy="36576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417320"/>
            <a:ext cx="2606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Пример: РЖД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58200" y="1874520"/>
            <a:ext cx="260604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основная тема: IRS для процентного риска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 / Deposit для краткосрочной ликвидности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FX Forward только при подтвержденных валютных закупках оборудования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Commodity Hedge не является приоритетной темой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230368"/>
            <a:ext cx="9875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Важно: агент формулирует не «продажную рекомендацию», а набор тем для обсуждения на встрече.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Генерация плана через GigaChat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LLM используется как редактор и структуризатор; бизнес-решение ограничено найденным контекстом.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600200" cy="640080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RAG context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68880" y="1783080"/>
            <a:ext cx="59436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108960" y="1417320"/>
            <a:ext cx="1737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нейтральный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SYSTEM_PROMPT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37760" y="1783080"/>
            <a:ext cx="59436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577840" y="1417320"/>
            <a:ext cx="1737360" cy="731520"/>
          </a:xfrm>
          <a:prstGeom prst="roundRect">
            <a:avLst/>
          </a:prstGeom>
          <a:solidFill>
            <a:srgbClr val="127855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GigaChat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temperature=0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1783080"/>
            <a:ext cx="59436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046720" y="1417320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JSON plan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Pydantic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92640" y="1783080"/>
            <a:ext cx="50292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241280" y="1417320"/>
            <a:ext cx="1417320" cy="731520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ground_plan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+ fallback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пришлось изменить промпт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182112"/>
            <a:ext cx="315468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исходная роль «корпоративный банкир» и слова «рекомендация» могли провоцировать ограничение ответа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новости могли содержать чувствительные темы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для физического ключа нет гарантированного strict JSON schema output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поэтому модель просится «редактировать готовый материал», а не принимать решения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4343400" y="2743200"/>
            <a:ext cx="3246120" cy="2514600"/>
          </a:xfrm>
          <a:prstGeom prst="rect">
            <a:avLst/>
          </a:prstGeom>
          <a:solidFill>
            <a:srgbClr val="F7F7F4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ты технический редактор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верни ровно один JSON-объект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blocked: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retry without news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parse error: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json_repair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still error: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deterministic fallback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924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проверяется после ответа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092440" y="3182112"/>
            <a:ext cx="324612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ответ содержит JSON-объект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структура проходит Pydantic-валидацию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продукты совпадают с retrieval-кандидатами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новости совпадают с безопасным списком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пустой блок новостей допустим и не считается ошибкой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Сборка презентации .pptx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Финальный файл создается программно: это не картинка и не текстовый план, а редактируемый PowerPoint.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2971800" cy="4434840"/>
          </a:xfrm>
          <a:prstGeom prst="roundRect">
            <a:avLst>
              <a:gd name="adj" fmla="val 3692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Структура deck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22402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титульный слайд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профиль и задачи клиента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ключевые риски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продуктовые темы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новости и контекст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вопросы и следующие шаги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60520" y="114300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Единый стиль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34840" y="1874520"/>
            <a:ext cx="25603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Sber-подобная зеленая палитра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единые заголовки и футеры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крупные шрифты без перегруза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продукты и новости в отдельной визуальной иерархии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тексты с ограничением длины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01000" y="114300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BF7E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39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Правки верстки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75320" y="1874520"/>
            <a:ext cx="25603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auto-fit и shorten_for_slide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динамическая высота карточек новостей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разделение заголовка новости и текста relevance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на последнем слайде ограничение числа пунктов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дисклеймер вынесен в отдельную зону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88920" y="5742432"/>
            <a:ext cx="6629400" cy="457200"/>
          </a:xfrm>
          <a:prstGeom prst="rect">
            <a:avLst/>
          </a:prstGeom>
          <a:solidFill>
            <a:srgbClr val="F2FAF6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create_pptx(plan, output_path)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рядом сохраняется JSON-план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plan_path = output_path.with_suffix('.json')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Итоговый workflow агента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Один вызов функции превращает имя клиента в готовую презентацию и JSON-план.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225296"/>
            <a:ext cx="320040" cy="292608"/>
          </a:xfrm>
          <a:prstGeom prst="roundRect">
            <a:avLst/>
          </a:prstGeom>
          <a:solidFill>
            <a:srgbClr val="127855"/>
          </a:solidFill>
          <a:ln>
            <a:solidFill>
              <a:srgbClr val="1278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ensure_index_ready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6355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создать индекс или использовать существующий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932688" y="1517904"/>
            <a:ext cx="0" cy="219456"/>
          </a:xfrm>
          <a:prstGeom prst="line">
            <a:avLst/>
          </a:prstGeom>
          <a:noFill/>
          <a:ln w="20320">
            <a:solidFill>
              <a:srgbClr val="B7C7B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77240" y="1847088"/>
            <a:ext cx="320040" cy="292608"/>
          </a:xfrm>
          <a:prstGeom prst="roundRect">
            <a:avLst/>
          </a:prstGeom>
          <a:solidFill>
            <a:srgbClr val="127855"/>
          </a:solidFill>
          <a:ln>
            <a:solidFill>
              <a:srgbClr val="1278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build_rag_context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3977640" y="1810512"/>
            <a:ext cx="6355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найти профиль, заметки, продукты и новости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932688" y="2139696"/>
            <a:ext cx="0" cy="219456"/>
          </a:xfrm>
          <a:prstGeom prst="line">
            <a:avLst/>
          </a:prstGeom>
          <a:noFill/>
          <a:ln w="20320">
            <a:solidFill>
              <a:srgbClr val="B7C7B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77240" y="2468880"/>
            <a:ext cx="320040" cy="292608"/>
          </a:xfrm>
          <a:prstGeom prst="roundRect">
            <a:avLst/>
          </a:prstGeom>
          <a:solidFill>
            <a:srgbClr val="127855"/>
          </a:solidFill>
          <a:ln>
            <a:solidFill>
              <a:srgbClr val="1278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432304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generate_presentation_plan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3977640" y="2432304"/>
            <a:ext cx="6355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получить JSON через GigaChat или fallback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932688" y="2761488"/>
            <a:ext cx="0" cy="219456"/>
          </a:xfrm>
          <a:prstGeom prst="line">
            <a:avLst/>
          </a:prstGeom>
          <a:noFill/>
          <a:ln w="20320">
            <a:solidFill>
              <a:srgbClr val="B7C7B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77240" y="3090672"/>
            <a:ext cx="320040" cy="292608"/>
          </a:xfrm>
          <a:prstGeom prst="roundRect">
            <a:avLst/>
          </a:prstGeom>
          <a:solidFill>
            <a:srgbClr val="127855"/>
          </a:solidFill>
          <a:ln>
            <a:solidFill>
              <a:srgbClr val="1278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3054096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ground_plan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3977640" y="3054096"/>
            <a:ext cx="6355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проверить продукты и новости по контексту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932688" y="3383280"/>
            <a:ext cx="0" cy="219456"/>
          </a:xfrm>
          <a:prstGeom prst="line">
            <a:avLst/>
          </a:prstGeom>
          <a:noFill/>
          <a:ln w="20320">
            <a:solidFill>
              <a:srgbClr val="B7C7B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77240" y="3712464"/>
            <a:ext cx="320040" cy="292608"/>
          </a:xfrm>
          <a:prstGeom prst="roundRect">
            <a:avLst/>
          </a:prstGeom>
          <a:solidFill>
            <a:srgbClr val="127855"/>
          </a:solidFill>
          <a:ln>
            <a:solidFill>
              <a:srgbClr val="1278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675888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create_pptx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3977640" y="3675888"/>
            <a:ext cx="6355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собрать редактируемый PowerPoint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932688" y="4005072"/>
            <a:ext cx="0" cy="219456"/>
          </a:xfrm>
          <a:prstGeom prst="line">
            <a:avLst/>
          </a:prstGeom>
          <a:noFill/>
          <a:ln w="20320">
            <a:solidFill>
              <a:srgbClr val="B7C7B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77240" y="4334256"/>
            <a:ext cx="320040" cy="292608"/>
          </a:xfrm>
          <a:prstGeom prst="roundRect">
            <a:avLst/>
          </a:prstGeom>
          <a:solidFill>
            <a:srgbClr val="127855"/>
          </a:solidFill>
          <a:ln>
            <a:solidFill>
              <a:srgbClr val="127855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4297680"/>
            <a:ext cx="2514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artifacts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3977640" y="4297680"/>
            <a:ext cx="63550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сохранить .pptx и .json в outputs/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1234440" y="5166360"/>
            <a:ext cx="4480560" cy="749808"/>
          </a:xfrm>
          <a:prstGeom prst="rect">
            <a:avLst/>
          </a:prstGeom>
          <a:solidFill>
            <a:srgbClr val="F2FAF6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pptx_path, plan = generate_client_presentation(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"РЖД",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rebuild_index=False,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6400800" y="5138928"/>
            <a:ext cx="4297680" cy="914400"/>
          </a:xfrm>
          <a:prstGeom prst="roundRect">
            <a:avLst>
              <a:gd name="adj" fmla="val 12000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5321808"/>
            <a:ext cx="731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Выход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7498080" y="5303520"/>
            <a:ext cx="2880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D:/sber/outputs/РЖД_YYYYMMDD_HHMMSS.pptx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D:/sber/outputs/РЖД_YYYYMMDD_HHMMSS.json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Зачем нужна валидация агента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Главный вопрос: стало ли лучше или хуже после изменения промпта, retrieval-логики, чанкинга или генерации .pptx?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3200400" cy="44348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может измениться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22860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prompt_variant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product_top_k и news_candidate_k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фильтрация прямых новостей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локика sensitive news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размер чанков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верстка слайдов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1234440"/>
            <a:ext cx="3200400" cy="44348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измеряем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0600" y="1965960"/>
            <a:ext cx="22860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релевантность retrieval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grounding ответа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заполненность структуры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безопасность новостей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валидность .pptx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переполнения и наложения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75320" y="1234440"/>
            <a:ext cx="3063240" cy="44348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сравниваем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49640" y="1965960"/>
            <a:ext cx="22860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 тестовый набор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одинаковые входные данные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baseline vs candidate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quality_score 0–100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дельта по клиентам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bootstrap-интервал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5806440"/>
            <a:ext cx="100126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Валидация не заменяет ручной просмотр, но делает регрессии видимыми и воспроизводимыми.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Тестовый набор: gold cases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Gold set хранится как JSON и автоматически строится для всех клиентов базы.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Разбиение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965960"/>
            <a:ext cx="26060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dev: РусГидро, Аэрофлот, РЖД, Магнит, Лукойл, МТС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holdout: Норникель, ФосАгро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 нужен для настройки промптов и retrieval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holdout используется как контроль после выбора версии</a:t>
            </a:r>
            <a:endParaRPr lang="en-US" sz="134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3154680" cy="44348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0876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каждом кейсе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237744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core_products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allowed_extra_products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forbidden_products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expected_risk_keywords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direct_news_titles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split</a:t>
            </a:r>
            <a:endParaRPr lang="en-US" sz="1340" dirty="0"/>
          </a:p>
        </p:txBody>
      </p:sp>
      <p:sp>
        <p:nvSpPr>
          <p:cNvPr id="11" name="Text 9"/>
          <p:cNvSpPr/>
          <p:nvPr/>
        </p:nvSpPr>
        <p:spPr>
          <a:xfrm>
            <a:off x="8138160" y="1234440"/>
            <a:ext cx="3154680" cy="3794760"/>
          </a:xfrm>
          <a:prstGeom prst="rect">
            <a:avLst/>
          </a:prstGeom>
          <a:solidFill>
            <a:srgbClr val="F7F7F4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"РЖД": {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core_products: ["IRS", "Repo", "Deposit"],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allowed_extra_products: ["FX Forward"],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forbidden_products: ["Commodity Hedge"],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expected_risk_keywords: ["ставк", "фондирован", "ликвид"]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86868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Идея: gold set не должен быть большим, но должен фиксировать ключевые ожидания по каждому клиенту.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Метрики качества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Оценка разделена по этапам пайплайна: retrieval, generation/grounding и PPTX.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274320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 Precision: сколько найденных продуктов допустимы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Core Recall: найдены ли основные продукты клиента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Forbidden Clean Rate: нет ли нежелательных продуктов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MRR: насколько рано найден первый core product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News Precision / Recall для прямых новостей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4343400" y="114300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1874520"/>
            <a:ext cx="274320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JSON parsed / pydantic valid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fallback_used и blocked_by_model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products grounded in retrieval context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news grounded in safe news context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risk coverage по ключевым словам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length для слайдов</a:t>
            </a:r>
            <a:endParaRPr lang="en-US" sz="1270" dirty="0"/>
          </a:p>
        </p:txBody>
      </p:sp>
      <p:sp>
        <p:nvSpPr>
          <p:cNvPr id="11" name="Shape 9"/>
          <p:cNvSpPr/>
          <p:nvPr/>
        </p:nvSpPr>
        <p:spPr>
          <a:xfrm>
            <a:off x="8092440" y="1143000"/>
            <a:ext cx="3520440" cy="4709160"/>
          </a:xfrm>
          <a:prstGeom prst="roundRect">
            <a:avLst>
              <a:gd name="adj" fmla="val 3117"/>
            </a:avLst>
          </a:prstGeom>
          <a:solidFill>
            <a:srgbClr val="FBF7E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39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1874520"/>
            <a:ext cx="274320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файл открывается через python-pptx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ожидаемое число слайдов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элементы не выходят за границы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нет сильных пересечений текстовых блоков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эвристика переполнения текста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отдельный флаг hard failure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914400" y="6053328"/>
            <a:ext cx="10195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270" dirty="0">
                <a:solidFill>
                  <a:srgbClr val="5964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PPTX-метрики специально ловят проблемы, которые уже возникали: заголовок новости поверх текста, слишком маленькая цель встречи, наложения на последнем слайде.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Единый quality score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Чтобы сравнить версии одной цифрой, метрики агрегируются в оценку от 0 до 100.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retrieval</a:t>
            </a:r>
            <a:endParaRPr lang="en-US" sz="1160" dirty="0"/>
          </a:p>
        </p:txBody>
      </p:sp>
      <p:sp>
        <p:nvSpPr>
          <p:cNvPr id="6" name="Shape 4"/>
          <p:cNvSpPr/>
          <p:nvPr/>
        </p:nvSpPr>
        <p:spPr>
          <a:xfrm>
            <a:off x="3246120" y="1444752"/>
            <a:ext cx="1892808" cy="201168"/>
          </a:xfrm>
          <a:prstGeom prst="rect">
            <a:avLst/>
          </a:prstGeom>
          <a:solidFill>
            <a:srgbClr val="127855"/>
          </a:solidFill>
          <a:ln w="12700">
            <a:solidFill>
              <a:srgbClr val="127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38360" y="1417320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78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914400" y="1819656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 retrieval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3246120" y="1847088"/>
            <a:ext cx="757123" cy="201168"/>
          </a:xfrm>
          <a:prstGeom prst="rect">
            <a:avLst/>
          </a:prstGeom>
          <a:solidFill>
            <a:srgbClr val="5B9D82"/>
          </a:solidFill>
          <a:ln w="12700">
            <a:solidFill>
              <a:srgbClr val="5B9D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38360" y="1819656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5B9D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914400" y="2221992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&amp; grounding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3246120" y="2249424"/>
            <a:ext cx="2586838" cy="201168"/>
          </a:xfrm>
          <a:prstGeom prst="rect">
            <a:avLst/>
          </a:prstGeom>
          <a:solidFill>
            <a:srgbClr val="D3912B"/>
          </a:solidFill>
          <a:ln w="12700">
            <a:solidFill>
              <a:srgbClr val="D391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38360" y="2221992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D39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41%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914400" y="2624328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 quality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3246120" y="2651760"/>
            <a:ext cx="1072591" cy="201168"/>
          </a:xfrm>
          <a:prstGeom prst="rect">
            <a:avLst/>
          </a:prstGeom>
          <a:solidFill>
            <a:srgbClr val="376A8A"/>
          </a:solidFill>
          <a:ln w="12700">
            <a:solidFill>
              <a:srgbClr val="376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2624328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376A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17%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4400" y="3337560"/>
            <a:ext cx="4663440" cy="1554480"/>
          </a:xfrm>
          <a:prstGeom prst="roundRect">
            <a:avLst>
              <a:gd name="adj" fmla="val 7059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Почему не одна LLM-оценка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977640"/>
            <a:ext cx="38862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метрики воспроизводимы и считаются без субъективности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можно увидеть конкретный источник ухудшения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LLM-as-a-judge можно добавить позже, но не делать единственным критерием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337560"/>
            <a:ext cx="4663440" cy="1554480"/>
          </a:xfrm>
          <a:prstGeom prst="roundRect">
            <a:avLst>
              <a:gd name="adj" fmla="val 7059"/>
            </a:avLst>
          </a:prstGeom>
          <a:solidFill>
            <a:srgbClr val="FBF7EF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39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failure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3977640"/>
            <a:ext cx="38862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невалидный .pptx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пустой или невалидный план без fallback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полностью нерелевантные продукты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сильные проблемы верстки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37560" y="5349240"/>
            <a:ext cx="5715000" cy="749808"/>
          </a:xfrm>
          <a:prstGeom prst="rect">
            <a:avLst/>
          </a:prstGeom>
          <a:solidFill>
            <a:srgbClr val="F2FAF6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quality_score = 100 *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0.30 * product_retrieval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0.12 * news_retrieval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0.41 * generation_grounding +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0.17 * pptx_quality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версий агента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Каждая версия описывается конфигом; результат сохраняется в папку evaluation/runs.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4709160" cy="4389120"/>
          </a:xfrm>
          <a:prstGeom prst="rect">
            <a:avLst/>
          </a:prstGeom>
          <a:solidFill>
            <a:srgbClr val="F7F7F4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BASELINE_VERSION = AgentVersion(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name="baseline_v1",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product_top_k=5,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news_candidate_k=10,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direct_news_only=False,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safe_news_only=False,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prompt_variant="banker_v1",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pptx_builder=create_pptx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70" dirty="0"/>
          </a:p>
          <a:p>
            <a:pPr marL="0" indent="0">
              <a:buNone/>
            </a:pP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CANDIDATE_VERSION = AgentVersion(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name="candidate_v2",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product_top_k=7,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news_candidate_k=20,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direct_news_only=True,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safe_news_only=True,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prompt_variant="neutral_v2",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pptx_builder=create_pptx_fixed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70" dirty="0"/>
          </a:p>
        </p:txBody>
      </p:sp>
      <p:sp>
        <p:nvSpPr>
          <p:cNvPr id="6" name="Text 4"/>
          <p:cNvSpPr/>
          <p:nvPr/>
        </p:nvSpPr>
        <p:spPr>
          <a:xfrm>
            <a:off x="5806440" y="1325880"/>
            <a:ext cx="1463040" cy="566928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baseline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06440" y="2743200"/>
            <a:ext cx="1463040" cy="566928"/>
          </a:xfrm>
          <a:prstGeom prst="roundRect">
            <a:avLst/>
          </a:prstGeom>
          <a:solidFill>
            <a:srgbClr val="FBF7EF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candidate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60920" y="1609344"/>
            <a:ext cx="1051560" cy="539496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60920" y="3026664"/>
            <a:ext cx="105156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458200" y="2011680"/>
            <a:ext cx="16002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paired cases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C2421"/>
                </a:solidFill>
              </a:rPr>
              <a:t>по клиентам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149840" y="2395728"/>
            <a:ext cx="594360" cy="0"/>
          </a:xfrm>
          <a:prstGeom prst="line">
            <a:avLst/>
          </a:prstGeom>
          <a:noFill/>
          <a:ln w="20320">
            <a:solidFill>
              <a:srgbClr val="12785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0789920" y="2057400"/>
            <a:ext cx="822960" cy="685800"/>
          </a:xfrm>
          <a:prstGeom prst="roundRect">
            <a:avLst/>
          </a:prstGeom>
          <a:solidFill>
            <a:srgbClr val="127855"/>
          </a:solidFill>
          <a:ln w="12700">
            <a:solidFill>
              <a:srgbClr val="12785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delta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score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064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получается на выходе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06440" y="4251960"/>
            <a:ext cx="283464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summary.csv по версии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context.json и plan.json по каждому клиенту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raw_response.txt для диагностики GigaChat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готовый .pptx для ручного просмотра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metrics.json для каждого кейса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0068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Интерпретация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06840" y="4251960"/>
            <a:ext cx="233172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mean_delta &gt; 0: стало лучше в среднем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 полностью выше 0: улучшение устойчивое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losses &gt; 0: есть регрессии по клиентам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Как запускать валидацию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Код можно держать в том же Notebook или подключить отдельным модулем через %run -i.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77240" y="1170432"/>
            <a:ext cx="4846320" cy="4206240"/>
          </a:xfrm>
          <a:prstGeom prst="rect">
            <a:avLst/>
          </a:prstGeom>
          <a:solidFill>
            <a:srgbClr val="F7F7F4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после ячеек агента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%run -i D:/sber/client_presentation_validation.py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baseline_results = evaluate_agent_version(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BASELINE_VERSION,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rebuild_index=False,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reuse_cache=False,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candidate_results = evaluate_agent_version(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CANDIDATE_VERSION,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rebuild_index=False,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reuse_cache=False,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 = compare_agent_versions(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baseline_results,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candidate_results,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80760" y="1234440"/>
            <a:ext cx="4480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Быстрые проверки без GigaChat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80760" y="1737360"/>
            <a:ext cx="44805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evaluate_retrieval_only() проверяет качество поиска без генерации и .pptx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можно быстро сравнивать top_k, RRF, фильтры новостей и алиасы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экономит токены и ускоряет отладку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полный прогон нужен только перед финальным сравнением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80760" y="4069080"/>
            <a:ext cx="4480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Кэширование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80760" y="4572000"/>
            <a:ext cx="44805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reuse_cache=True читает уже сохраненные plan.json и metrics.json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при изменении верстки можно пересобрать только .pptx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при изменении prompt или retrieval кэш нужно сбросить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положить в Git-репозиторий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155680" cy="0"/>
          </a:xfrm>
          <a:prstGeom prst="line">
            <a:avLst/>
          </a:prstGeom>
          <a:noFill/>
          <a:ln w="15240">
            <a:solidFill>
              <a:srgbClr val="127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" y="896112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9645F"/>
                </a:solidFill>
              </a:rPr>
              <a:t>Итоговая сдача должна показывать не только код, но и воспроизводимость решения.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4160520" cy="4800600"/>
          </a:xfrm>
          <a:prstGeom prst="rect">
            <a:avLst/>
          </a:prstGeom>
          <a:solidFill>
            <a:srgbClr val="F7F7F4"/>
          </a:solidFill>
          <a:ln w="8890">
            <a:solidFill>
              <a:srgbClr val="D9DE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repo/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                    # можно добавить toy/sample данные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notebooks/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client_presentation_agent.ipynb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src/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agent.py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retrieval.py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pptx_builder.py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validation.py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examples/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РЖД.pptx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РусГидро.pptx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evaluation/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gold_test_set.json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sample_comparison.csv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docker-compose.yml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.env.example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.gitignore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C24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README.md</a:t>
            </a:r>
            <a:endParaRPr lang="en-US" sz="970" dirty="0"/>
          </a:p>
        </p:txBody>
      </p:sp>
      <p:sp>
        <p:nvSpPr>
          <p:cNvPr id="6" name="Text 4"/>
          <p:cNvSpPr/>
          <p:nvPr/>
        </p:nvSpPr>
        <p:spPr>
          <a:xfrm>
            <a:off x="5349240" y="1234440"/>
            <a:ext cx="2971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должен объяснять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49240" y="1737360"/>
            <a:ext cx="28346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как установить зависимости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как запустить Docker/OpenSearch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как заполнить .env без публикации ключа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как создать презентацию по клиенту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как запустить валидацию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как сравнить две версии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3252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Артефакты для демонстрации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32520" y="1737360"/>
            <a:ext cx="242316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1–2 готовые .pptx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JSON-планы рядом с ними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таблица метрик baseline vs candidate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C24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краткий вывод: что улучшили и почему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4892040"/>
            <a:ext cx="5806440" cy="749808"/>
          </a:xfrm>
          <a:prstGeom prst="roundRect">
            <a:avLst>
              <a:gd name="adj" fmla="val 14634"/>
            </a:avLst>
          </a:prstGeom>
          <a:solidFill>
            <a:srgbClr val="F2FAF6"/>
          </a:solidFill>
          <a:ln w="10160">
            <a:solidFill>
              <a:srgbClr val="E8E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5093208"/>
            <a:ext cx="5257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мысль защиты: это не просто генератор слайдов, а проверяемый агентский pipeline с контролем качества на каждом этапе.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574536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A968F"/>
                </a:solidFill>
              </a:rPr>
              <a:t>Задания 2–3 · RAG + OpenSearch + GigaChat API · прототип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133856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68F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5D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Итоговое решение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3232" y="12070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FF2EA"/>
                </a:solidFill>
              </a:rPr>
              <a:t>Агент + валидация дают управляемый цикл улучшений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D44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20848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Контекст контролируется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468880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D5E7DE"/>
                </a:solidFill>
              </a:rPr>
              <a:t>Новости и продукты берутся только из локальной базы и retrieval-кандидатов.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D44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95160" y="20848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LLM ограничена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95160" y="2468880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D5E7DE"/>
                </a:solidFill>
              </a:rPr>
              <a:t>GigaChat структурирует материал, но не придумывает продукты и новости.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D44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850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PPTX создается кодом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6304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D5E7DE"/>
                </a:solidFill>
              </a:rPr>
              <a:t>Слайды воспроизводимы, редактируемы и имеют единый стиль.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D44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95160" y="36850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Качество измеряется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9516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D5E7DE"/>
                </a:solidFill>
              </a:rPr>
              <a:t>Метрики показывают, где стало лучше или хуже после изменений.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2545</Words>
  <Application>Microsoft Office PowerPoint</Application>
  <PresentationFormat>Widescreen</PresentationFormat>
  <Paragraphs>521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Агент генерации клиентских презентаций и система валидации</dc:title>
  <dc:subject>Описание решения задач 2 и 3</dc:subject>
  <dc:creator>OpenAI</dc:creator>
  <cp:lastModifiedBy>Devadevam</cp:lastModifiedBy>
  <cp:revision>2</cp:revision>
  <dcterms:created xsi:type="dcterms:W3CDTF">2026-07-20T16:36:37Z</dcterms:created>
  <dcterms:modified xsi:type="dcterms:W3CDTF">2026-07-20T16:43:35Z</dcterms:modified>
</cp:coreProperties>
</file>