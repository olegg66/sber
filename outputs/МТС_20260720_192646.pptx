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457200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200" b="1">
                <a:solidFill>
                  <a:srgbClr val="AAE0CB"/>
                </a:solidFill>
                <a:latin typeface="Aptos"/>
              </a:defRPr>
            </a:pPr>
            <a:r>
              <a:t>КЛИЕНТСКАЯ 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МТС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978408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E1EEE9"/>
                </a:solidFill>
                <a:latin typeface="Aptos"/>
              </a:defRPr>
            </a:pPr>
            <a:r>
              <a:t>Структура презентации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41648"/>
            <a:ext cx="4709160" cy="1353312"/>
          </a:xfrm>
          <a:prstGeom prst="roundRect">
            <a:avLst/>
          </a:prstGeom>
          <a:solidFill>
            <a:srgbClr val="195D48"/>
          </a:solidFill>
          <a:ln>
            <a:solidFill>
              <a:srgbClr val="398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224528"/>
            <a:ext cx="41605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150" b="1">
                <a:solidFill>
                  <a:srgbClr val="AAE0CB"/>
                </a:solidFill>
                <a:latin typeface="Aptos"/>
              </a:defRPr>
            </a:pPr>
            <a:r>
              <a:t>Цель встречи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45152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Обсудить риски, ликвидность и приоритетные финансовые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4114800" cy="228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Конфиденциально · Рабочий материал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Профиль клиента и финансовые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6995160" cy="502920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3093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6355080" cy="18745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1C2220"/>
                </a:solidFill>
                <a:latin typeface="Aptos"/>
              </a:defRPr>
            </a:pPr>
            <a:r>
              <a:t>Крупнейший российский телеком-оператор с фокусом на развитие сети и цифровых сервисов. Ключевые потребности включают управление долгом, инвестиции в инфраструктуру и эффективное использование ликвидности.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182880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100" b="1">
                <a:solidFill>
                  <a:srgbClr val="127855"/>
                </a:solidFill>
                <a:latin typeface="Aptos"/>
              </a:defRPr>
            </a:pPr>
            <a:r>
              <a:t>Ключевой фокус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6263640" cy="868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Структура презентации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170432"/>
            <a:ext cx="3767328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B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444752"/>
            <a:ext cx="315468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Финансовые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3154680" cy="384048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Финансирование инвестиционной программы развития сети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Хеджирование рисков по закупкам оборудования в иностранной валюте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Размещение временно свободных денежных средств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Управление процентными расходами по долговому портфелю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МТС · Материалы к клиентской встрече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Ключевые финансовые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Процентный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Изменения ставок влияют на расходы по обслуживанию долга.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Валютный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Колебания курсов увеличивают затраты на импорт оборудования.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88620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" y="3909059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67911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Риск ликвидности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4456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Необходимость эффективного управления свободными денежными средствами.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88620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3909059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867911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Регуляторный риск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54456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Возможные изменения нормативов хранения и перевода валют.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МТС · Материалы к клиентской встрече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Приоритетные продуктовые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127855"/>
                </a:solidFill>
                <a:latin typeface="Aptos"/>
              </a:defRPr>
            </a:pPr>
            <a:r>
              <a:t>ВЫСОКИЙ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Позволяет управлять процентными платежами по долгу, снижая чувствительность к изменению ставок.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Требуется оценка текущего состояния долговой структуры компании.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СРЕДНИЙ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FX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Может использоваться для фиксации стоимости закупок оборудования в валюте.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Эффективность зависит от точности прогнозируемых объемов закупок.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УСЛОВНЫЙ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Deposit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Подходит для временного размещения ликвидности с минимальным риском.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Доходность обычно ниже альтернативных инструментов.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УСЛОВНЫЙ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Structured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Предлагает потенциально более высокую доходность при принятии определенного уровня рыночного риска.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Необходимо понимание клиентом профиля риска и инвестиционного горизонта.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МТС · Материалы к клиентской встрече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Новости и контекст для встречи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438912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6926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normAutofit/>
          </a:bodyPr>
          <a:lstStyle/>
          <a:p>
            <a:pPr algn="ctr">
              <a:defRPr sz="2300" b="1">
                <a:solidFill>
                  <a:srgbClr val="084031"/>
                </a:solidFill>
                <a:latin typeface="Aptos"/>
              </a:defRPr>
            </a:pPr>
            <a:r>
              <a:t>В локальной базе не найдено новостей, непосредственно относящихся к выбранному клиенту.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МТС · Материалы к клиентской встрече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Вопросы к клиенту и следующие шаги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5321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50749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49377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Вопросы на встречу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65376"/>
            <a:ext cx="4919472" cy="379476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Каковы ваши планы по дальнейшему развитию сетевой инфраструктуры?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Какие объемы валютных закупок ожидаются в ближайшие 12 месяцев?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Какой объем ликвидности вы планируете держать вне оборота в ближайшее время?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Рассматриваете ли вы возможность рефинансирования части существующего долга?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Есть ли интерес к инструментам с потенциальной премией за принятый риск?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408176"/>
            <a:ext cx="44805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Предлагаемые следующие шаги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65376"/>
            <a:ext cx="4434840" cy="260604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Провести углубленную аналитику текущих долговых обязательств клиента.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Оценить структуру предстоящих валютных операций и закупок.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Получить информацию о стратегии управления ликвидностью.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Разработывать индивидуальные сценарии применения выбранных инструментов.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11696" y="4736592"/>
            <a:ext cx="4498848" cy="960120"/>
          </a:xfrm>
          <a:prstGeom prst="roundRect">
            <a:avLst/>
          </a:prstGeom>
          <a:solidFill>
            <a:srgbClr val="0E4736"/>
          </a:solidFill>
          <a:ln>
            <a:solidFill>
              <a:srgbClr val="2D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8" y="4919472"/>
            <a:ext cx="4069080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1050" b="0">
                <a:solidFill>
                  <a:srgbClr val="B8CFC7"/>
                </a:solidFill>
                <a:latin typeface="Aptos"/>
              </a:defRPr>
            </a:pPr>
            <a:r>
              <a:t>Финальные параметры обсуждаются после подтверждения объема, срока, графика денежных потоков и риск-профиля.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3657600" cy="2011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МТС · Конфиденциально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