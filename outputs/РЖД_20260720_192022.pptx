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40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457200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200" b="1">
                <a:solidFill>
                  <a:srgbClr val="AAE0CB"/>
                </a:solidFill>
                <a:latin typeface="Aptos"/>
              </a:defRPr>
            </a:pPr>
            <a:r>
              <a:t>КЛИЕНТСКАЯ ПРЕЗЕНТАЦИЯ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515600" cy="10515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РЖД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978408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000" b="0">
                <a:solidFill>
                  <a:srgbClr val="E1EEE9"/>
                </a:solidFill>
                <a:latin typeface="Aptos"/>
              </a:defRPr>
            </a:pPr>
            <a:r>
              <a:t>Структурированная презентация для внутреннего обсуждения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041648"/>
            <a:ext cx="4709160" cy="1353312"/>
          </a:xfrm>
          <a:prstGeom prst="roundRect">
            <a:avLst/>
          </a:prstGeom>
          <a:solidFill>
            <a:srgbClr val="195D48"/>
          </a:solidFill>
          <a:ln>
            <a:solidFill>
              <a:srgbClr val="398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224528"/>
            <a:ext cx="41605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150" b="1">
                <a:solidFill>
                  <a:srgbClr val="AAE0CB"/>
                </a:solidFill>
                <a:latin typeface="Aptos"/>
              </a:defRPr>
            </a:pPr>
            <a:r>
              <a:t>Цель встречи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645152"/>
            <a:ext cx="324612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Обсудить риски, ликвидность и приоритетные финансовые решения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4114800" cy="228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00" b="0">
                <a:solidFill>
                  <a:srgbClr val="A5BEB5"/>
                </a:solidFill>
                <a:latin typeface="Aptos"/>
              </a:defRPr>
            </a:pPr>
            <a:r>
              <a:t>Конфиденциально · Рабочий материал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500" b="1">
                <a:solidFill>
                  <a:srgbClr val="084031"/>
                </a:solidFill>
                <a:latin typeface="Aptos"/>
              </a:defRPr>
            </a:pPr>
            <a:r>
              <a:t>Профиль клиента и финансовые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r">
              <a:defRPr sz="1100" b="1">
                <a:solidFill>
                  <a:srgbClr val="848F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972800" cy="22860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6995160" cy="5029200"/>
          </a:xfrm>
          <a:prstGeom prst="roundRect">
            <a:avLst/>
          </a:prstGeom>
          <a:solidFill>
            <a:srgbClr val="F2F9F6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630936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600" b="1">
                <a:solidFill>
                  <a:srgbClr val="084031"/>
                </a:solidFill>
                <a:latin typeface="Aptos"/>
              </a:defRPr>
            </a:pPr>
            <a:r>
              <a:t>Профиль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6355080" cy="1874519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000" b="0">
                <a:solidFill>
                  <a:srgbClr val="1C2220"/>
                </a:solidFill>
                <a:latin typeface="Aptos"/>
              </a:defRPr>
            </a:pPr>
            <a:r>
              <a:t>Крупнейшая инфраструктурная транспортная компания с длительным инвестиционным циклом, высоким уровнем долга и необходимостью эффективного управления финансовой устойчивостью.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15968"/>
            <a:ext cx="1828800" cy="2743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100" b="1">
                <a:solidFill>
                  <a:srgbClr val="127855"/>
                </a:solidFill>
                <a:latin typeface="Aptos"/>
              </a:defRPr>
            </a:pPr>
            <a:r>
              <a:t>Ключевой фокус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45152"/>
            <a:ext cx="6263640" cy="8686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Структурированная презентация для внутреннего обсуждения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170432"/>
            <a:ext cx="3767328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BE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2" y="1444752"/>
            <a:ext cx="315468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600" b="1">
                <a:solidFill>
                  <a:srgbClr val="084031"/>
                </a:solidFill>
                <a:latin typeface="Aptos"/>
              </a:defRPr>
            </a:pPr>
            <a:r>
              <a:t>Финансовые задачи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965960"/>
            <a:ext cx="3154680" cy="3840480"/>
          </a:xfrm>
          <a:prstGeom prst="rect">
            <a:avLst/>
          </a:prstGeom>
          <a:noFill/>
        </p:spPr>
        <p:txBody>
          <a:bodyPr wrap="square" lIns="73152" rIns="45720" tIns="27432" bIns="27432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1C2220"/>
                </a:solidFill>
                <a:latin typeface="Aptos"/>
              </a:defRPr>
            </a:pPr>
            <a:r>
              <a:t>• Долгосрочное финансирование инвестиционных проектов</a:t>
            </a:r>
          </a:p>
          <a:p>
            <a:pPr>
              <a:spcAft>
                <a:spcPts val="600"/>
              </a:spcAft>
              <a:defRPr sz="1650">
                <a:solidFill>
                  <a:srgbClr val="1C2220"/>
                </a:solidFill>
                <a:latin typeface="Aptos"/>
              </a:defRPr>
            </a:pPr>
            <a:r>
              <a:t>• Управление процентными расходами</a:t>
            </a:r>
          </a:p>
          <a:p>
            <a:pPr>
              <a:spcAft>
                <a:spcPts val="600"/>
              </a:spcAft>
              <a:defRPr sz="1650">
                <a:solidFill>
                  <a:srgbClr val="1C2220"/>
                </a:solidFill>
                <a:latin typeface="Aptos"/>
              </a:defRPr>
            </a:pPr>
            <a:r>
              <a:t>• Хеджирование валютных рисков по импорту оборудования</a:t>
            </a:r>
          </a:p>
          <a:p>
            <a:pPr>
              <a:spcAft>
                <a:spcPts val="600"/>
              </a:spcAft>
              <a:defRPr sz="1650">
                <a:solidFill>
                  <a:srgbClr val="1C2220"/>
                </a:solidFill>
                <a:latin typeface="Aptos"/>
              </a:defRPr>
            </a:pPr>
            <a:r>
              <a:t>• Оптимизация структуры долгового портфеля</a:t>
            </a:r>
          </a:p>
          <a:p>
            <a:pPr>
              <a:spcAft>
                <a:spcPts val="600"/>
              </a:spcAft>
              <a:defRPr sz="1650">
                <a:solidFill>
                  <a:srgbClr val="1C2220"/>
                </a:solidFill>
                <a:latin typeface="Aptos"/>
              </a:defRPr>
            </a:pPr>
            <a:r>
              <a:t>• Эффективное управление временной ликвидностью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850" b="0">
                <a:solidFill>
                  <a:srgbClr val="848F8B"/>
                </a:solidFill>
                <a:latin typeface="Aptos"/>
              </a:defRPr>
            </a:pPr>
            <a:r>
              <a:t>РЖД · Материалы к клиентской встрече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510528"/>
            <a:ext cx="324612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>
              <a:defRPr sz="850" b="0">
                <a:solidFill>
                  <a:srgbClr val="848F8B"/>
                </a:solidFill>
                <a:latin typeface="Aptos"/>
              </a:defRPr>
            </a:pPr>
            <a:r>
              <a:t>Сформировано на основе локальной базы данных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500" b="1">
                <a:solidFill>
                  <a:srgbClr val="084031"/>
                </a:solidFill>
                <a:latin typeface="Aptos"/>
              </a:defRPr>
            </a:pPr>
            <a:r>
              <a:t>Ключевые финансовые риски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r">
              <a:defRPr sz="1100" b="1">
                <a:solidFill>
                  <a:srgbClr val="848F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972800" cy="22860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2148840"/>
          </a:xfrm>
          <a:prstGeom prst="roundRect">
            <a:avLst/>
          </a:prstGeom>
          <a:solidFill>
            <a:srgbClr val="F2F9F6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5528" y="1417320"/>
            <a:ext cx="502920" cy="502920"/>
          </a:xfrm>
          <a:prstGeom prst="round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" y="144018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99032"/>
            <a:ext cx="4160520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800" b="1">
                <a:solidFill>
                  <a:srgbClr val="084031"/>
                </a:solidFill>
                <a:latin typeface="Aptos"/>
              </a:defRPr>
            </a:pPr>
            <a:r>
              <a:t>Рост процентных ставок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75688"/>
            <a:ext cx="4800600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50" b="0">
                <a:solidFill>
                  <a:srgbClr val="49524F"/>
                </a:solidFill>
                <a:latin typeface="Aptos"/>
              </a:defRPr>
            </a:pPr>
            <a:r>
              <a:t>Повышает расходы по обслуживанию долга и увеличивает финансовую нагрузку.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3444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502920" cy="502920"/>
          </a:xfrm>
          <a:prstGeom prst="round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2804" y="144018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1399032"/>
            <a:ext cx="4160520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800" b="1">
                <a:solidFill>
                  <a:srgbClr val="084031"/>
                </a:solidFill>
                <a:latin typeface="Aptos"/>
              </a:defRPr>
            </a:pPr>
            <a:r>
              <a:t>Кассовые разрывы по крупным проектам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075688"/>
            <a:ext cx="4800600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50" b="0">
                <a:solidFill>
                  <a:srgbClr val="49524F"/>
                </a:solidFill>
                <a:latin typeface="Aptos"/>
              </a:defRPr>
            </a:pPr>
            <a:r>
              <a:t>Создают потребность в срочном привлечении средств и увеличивают зависимость от внешних заимствований.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03320"/>
            <a:ext cx="5394960" cy="2148840"/>
          </a:xfrm>
          <a:prstGeom prst="roundRect">
            <a:avLst/>
          </a:prstGeom>
          <a:solidFill>
            <a:srgbClr val="F2F9F6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8" y="3886200"/>
            <a:ext cx="502920" cy="502920"/>
          </a:xfrm>
          <a:prstGeom prst="round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" y="3909059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67911"/>
            <a:ext cx="4160520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800" b="1">
                <a:solidFill>
                  <a:srgbClr val="084031"/>
                </a:solidFill>
                <a:latin typeface="Aptos"/>
              </a:defRPr>
            </a:pPr>
            <a:r>
              <a:t>Валютные колебания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544568"/>
            <a:ext cx="4800600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550" b="0">
                <a:solidFill>
                  <a:srgbClr val="49524F"/>
                </a:solidFill>
                <a:latin typeface="Aptos"/>
              </a:defRPr>
            </a:pPr>
            <a:r>
              <a:t>Воздействуют на стоимость импортного оборудования и обслуживания обязательств в иностранной валюте.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850" b="0">
                <a:solidFill>
                  <a:srgbClr val="848F8B"/>
                </a:solidFill>
                <a:latin typeface="Aptos"/>
              </a:defRPr>
            </a:pPr>
            <a:r>
              <a:t>РЖД · Материалы к клиентской встрече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6510528"/>
            <a:ext cx="324612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>
              <a:defRPr sz="850" b="0">
                <a:solidFill>
                  <a:srgbClr val="848F8B"/>
                </a:solidFill>
                <a:latin typeface="Aptos"/>
              </a:defRPr>
            </a:pPr>
            <a:r>
              <a:t>Сформировано на основе локальной базы данных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500" b="1">
                <a:solidFill>
                  <a:srgbClr val="084031"/>
                </a:solidFill>
                <a:latin typeface="Aptos"/>
              </a:defRPr>
            </a:pPr>
            <a:r>
              <a:t>Приоритетные продуктовые идеи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r">
              <a:defRPr sz="1100" b="1">
                <a:solidFill>
                  <a:srgbClr val="848F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972800" cy="22860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17320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50" b="1">
                <a:solidFill>
                  <a:srgbClr val="127855"/>
                </a:solidFill>
                <a:latin typeface="Aptos"/>
              </a:defRPr>
            </a:pPr>
            <a:r>
              <a:t>ВЫСОКИЙ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719072"/>
            <a:ext cx="4754880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67128"/>
            <a:ext cx="4800600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450" b="0">
                <a:solidFill>
                  <a:srgbClr val="1C2220"/>
                </a:solidFill>
                <a:latin typeface="Aptos"/>
              </a:defRPr>
            </a:pPr>
            <a:r>
              <a:t>Позволяет стабилизировать процентные расходы и защитить бюджет компании от колебаний рыночных ставок.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862072"/>
            <a:ext cx="4800600" cy="3383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050" b="0">
                <a:solidFill>
                  <a:srgbClr val="848F8B"/>
                </a:solidFill>
                <a:latin typeface="Aptos"/>
              </a:defRPr>
            </a:pPr>
            <a:r>
              <a:t>Условие: Требуется оценка текущего состояния долгового портфеля и определение оптимального срока фиксации ставок.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23444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417320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50" b="1">
                <a:solidFill>
                  <a:srgbClr val="D3912B"/>
                </a:solidFill>
                <a:latin typeface="Aptos"/>
              </a:defRPr>
            </a:pPr>
            <a:r>
              <a:t>СРЕДНИЙ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1719072"/>
            <a:ext cx="4754880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167128"/>
            <a:ext cx="4800600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450" b="0">
                <a:solidFill>
                  <a:srgbClr val="1C2220"/>
                </a:solidFill>
                <a:latin typeface="Aptos"/>
              </a:defRPr>
            </a:pPr>
            <a:r>
              <a:t>Подходит для оперативного управления временными дефицитами ликвидности через операции с ценными бумагами.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862072"/>
            <a:ext cx="4800600" cy="3383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050" b="0">
                <a:solidFill>
                  <a:srgbClr val="848F8B"/>
                </a:solidFill>
                <a:latin typeface="Aptos"/>
              </a:defRPr>
            </a:pPr>
            <a:r>
              <a:t>Условие: Необходимо наличие достаточного объема качественных активов для залога.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0332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50" b="1">
                <a:solidFill>
                  <a:srgbClr val="D3912B"/>
                </a:solidFill>
                <a:latin typeface="Aptos"/>
              </a:defRPr>
            </a:pPr>
            <a:r>
              <a:t>УСЛОВНЫЙ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187952"/>
            <a:ext cx="4754880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FX 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636008"/>
            <a:ext cx="4800600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450" b="0">
                <a:solidFill>
                  <a:srgbClr val="1C2220"/>
                </a:solidFill>
                <a:latin typeface="Aptos"/>
              </a:defRPr>
            </a:pPr>
            <a:r>
              <a:t>Может использоваться для хеджирования валютных платежей по приобретению оборудования.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5330952"/>
            <a:ext cx="4800600" cy="3383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050" b="0">
                <a:solidFill>
                  <a:srgbClr val="848F8B"/>
                </a:solidFill>
                <a:latin typeface="Aptos"/>
              </a:defRPr>
            </a:pPr>
            <a:r>
              <a:t>Условие: Применимо только при подтверждении наличия таких контрактов и четкого графика оплат.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703320"/>
            <a:ext cx="5394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886200"/>
            <a:ext cx="1143000" cy="2560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50" b="1">
                <a:solidFill>
                  <a:srgbClr val="D3912B"/>
                </a:solidFill>
                <a:latin typeface="Aptos"/>
              </a:defRPr>
            </a:pPr>
            <a:r>
              <a:t>НИЗКИЙ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187952"/>
            <a:ext cx="4754880" cy="3840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900" b="1">
                <a:solidFill>
                  <a:srgbClr val="084031"/>
                </a:solidFill>
                <a:latin typeface="Aptos"/>
              </a:defRPr>
            </a:pPr>
            <a:r>
              <a:t>Deposit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36008"/>
            <a:ext cx="4800600" cy="6583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450" b="0">
                <a:solidFill>
                  <a:srgbClr val="1C2220"/>
                </a:solidFill>
                <a:latin typeface="Aptos"/>
              </a:defRPr>
            </a:pPr>
            <a:r>
              <a:t>Предназначен для размещения временно свободных средств с минимальным риском.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330952"/>
            <a:ext cx="4800600" cy="3383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1050" b="0">
                <a:solidFill>
                  <a:srgbClr val="848F8B"/>
                </a:solidFill>
                <a:latin typeface="Aptos"/>
              </a:defRPr>
            </a:pPr>
            <a:r>
              <a:t>Условие: Объем временно свободных средств у клиента ограничен спецификой бизнеса.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850" b="0">
                <a:solidFill>
                  <a:srgbClr val="848F8B"/>
                </a:solidFill>
                <a:latin typeface="Aptos"/>
              </a:defRPr>
            </a:pPr>
            <a:r>
              <a:t>РЖД · Материалы к клиентской встрече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510528"/>
            <a:ext cx="324612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>
              <a:defRPr sz="850" b="0">
                <a:solidFill>
                  <a:srgbClr val="848F8B"/>
                </a:solidFill>
                <a:latin typeface="Aptos"/>
              </a:defRPr>
            </a:pPr>
            <a:r>
              <a:t>Сформировано на основе локальной базы данных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2500" b="1">
                <a:solidFill>
                  <a:srgbClr val="084031"/>
                </a:solidFill>
                <a:latin typeface="Aptos"/>
              </a:defRPr>
            </a:pPr>
            <a:r>
              <a:t>Новости и контекст для встречи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347472"/>
            <a:ext cx="411480" cy="320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r">
              <a:defRPr sz="1100" b="1">
                <a:solidFill>
                  <a:srgbClr val="848F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96112"/>
            <a:ext cx="10972800" cy="22860"/>
          </a:xfrm>
          <a:prstGeom prst="rect">
            <a:avLst/>
          </a:prstGeom>
          <a:solidFill>
            <a:srgbClr val="12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10972800" cy="2473452"/>
          </a:xfrm>
          <a:prstGeom prst="roundRect">
            <a:avLst/>
          </a:prstGeom>
          <a:solidFill>
            <a:srgbClr val="F2F9F6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61872"/>
            <a:ext cx="74523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rmAutofit/>
          </a:bodyPr>
          <a:lstStyle/>
          <a:p>
            <a:pPr algn="l">
              <a:defRPr sz="1350" b="1">
                <a:solidFill>
                  <a:srgbClr val="084031"/>
                </a:solidFill>
                <a:latin typeface="Aptos"/>
              </a:defRPr>
            </a:pPr>
            <a:r>
              <a:t>IPO "РЖД" и "Wildberries" в ближайшие годы принести до $477 млрд потенциальной капитализации российскому рынку.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271016"/>
            <a:ext cx="267004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rmAutofit/>
          </a:bodyPr>
          <a:lstStyle/>
          <a:p>
            <a:pPr algn="r">
              <a:defRPr sz="1000" b="1">
                <a:solidFill>
                  <a:srgbClr val="127855"/>
                </a:solidFill>
                <a:latin typeface="Aptos"/>
              </a:defRPr>
            </a:pPr>
            <a:r>
              <a:t>https://t.me/s/headlines_for_traders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65376"/>
            <a:ext cx="10012680" cy="16504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rmAutofit/>
          </a:bodyPr>
          <a:lstStyle/>
          <a:p>
            <a:pPr algn="l">
              <a:defRPr sz="1220" b="0">
                <a:solidFill>
                  <a:srgbClr val="49524F"/>
                </a:solidFill>
                <a:latin typeface="Aptos"/>
              </a:defRPr>
            </a:pPr>
            <a:r>
              <a:t>Потенциальное размещение акций компании на бирже может повлиять на структуру капитала и доступность новых инструментов финансирования.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744468"/>
            <a:ext cx="10972800" cy="2473452"/>
          </a:xfrm>
          <a:prstGeom prst="roundRect">
            <a:avLst/>
          </a:prstGeom>
          <a:solidFill>
            <a:srgbClr val="FFFFFF"/>
          </a:solidFill>
          <a:ln>
            <a:solidFill>
              <a:srgbClr val="E2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63340"/>
            <a:ext cx="74523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rmAutofit/>
          </a:bodyPr>
          <a:lstStyle/>
          <a:p>
            <a:pPr algn="l">
              <a:defRPr sz="1350" b="1">
                <a:solidFill>
                  <a:srgbClr val="084031"/>
                </a:solidFill>
                <a:latin typeface="Aptos"/>
              </a:defRPr>
            </a:pPr>
            <a:r>
              <a:t>В Хабаровском крае транспортная прокуратура обратилась в суд с требованием обязать ОАО «РЖД» оборудовать железнодорожные вокзалы необходимыми…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872484"/>
            <a:ext cx="2670048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rmAutofit/>
          </a:bodyPr>
          <a:lstStyle/>
          <a:p>
            <a:pPr algn="r">
              <a:defRPr sz="1000" b="1">
                <a:solidFill>
                  <a:srgbClr val="127855"/>
                </a:solidFill>
                <a:latin typeface="Aptos"/>
              </a:defRPr>
            </a:pPr>
            <a:r>
              <a:t>https://hab.aif.ru/rss/googlearticles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466844"/>
            <a:ext cx="10012680" cy="16504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rmAutofit/>
          </a:bodyPr>
          <a:lstStyle/>
          <a:p>
            <a:pPr algn="l">
              <a:defRPr sz="1220" b="0">
                <a:solidFill>
                  <a:srgbClr val="49524F"/>
                </a:solidFill>
                <a:latin typeface="Aptos"/>
              </a:defRPr>
            </a:pPr>
            <a:r>
              <a:t>Судебные разбирательства и требования регуляторов создают дополнительные операционные издержки и влияют на распределение бюджета компании.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850" b="0">
                <a:solidFill>
                  <a:srgbClr val="848F8B"/>
                </a:solidFill>
                <a:latin typeface="Aptos"/>
              </a:defRPr>
            </a:pPr>
            <a:r>
              <a:t>РЖД · Материалы к клиентской встрече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6510528"/>
            <a:ext cx="3246120" cy="1828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>
              <a:defRPr sz="850" b="0">
                <a:solidFill>
                  <a:srgbClr val="848F8B"/>
                </a:solidFill>
                <a:latin typeface="Aptos"/>
              </a:defRPr>
            </a:pPr>
            <a:r>
              <a:t>Сформировано на основе локальной базы данных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40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698480" cy="5029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norm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Вопросы к клиенту и следующие шаги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5532120" cy="4983480"/>
          </a:xfrm>
          <a:prstGeom prst="roundRect">
            <a:avLst/>
          </a:prstGeom>
          <a:solidFill>
            <a:srgbClr val="12513E"/>
          </a:solidFill>
          <a:ln>
            <a:solidFill>
              <a:srgbClr val="337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46520" y="1143000"/>
            <a:ext cx="5074920" cy="4983480"/>
          </a:xfrm>
          <a:prstGeom prst="roundRect">
            <a:avLst/>
          </a:prstGeom>
          <a:solidFill>
            <a:srgbClr val="12513E"/>
          </a:solidFill>
          <a:ln>
            <a:solidFill>
              <a:srgbClr val="337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08176"/>
            <a:ext cx="493776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700" b="1">
                <a:solidFill>
                  <a:srgbClr val="B2E6D2"/>
                </a:solidFill>
                <a:latin typeface="Aptos"/>
              </a:defRPr>
            </a:pPr>
            <a:r>
              <a:t>Вопросы на встречу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65376"/>
            <a:ext cx="4919472" cy="3794760"/>
          </a:xfrm>
          <a:prstGeom prst="rect">
            <a:avLst/>
          </a:prstGeom>
          <a:noFill/>
        </p:spPr>
        <p:txBody>
          <a:bodyPr wrap="square" lIns="73152" rIns="45720" tIns="27432" bIns="27432">
            <a:norm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Каковы текущие планы по привлечению долгосрочного финансирования?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Какие объемы временно свободных средств ожидаются в ближайшее время?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Есть ли подтвержденные контракты на приобретение оборудования в иностранной валюте?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Какой объем задолженности подвержен риску повышения процентных ставок?</a:t>
            </a:r>
          </a:p>
          <a:p>
            <a:pPr>
              <a:spcAft>
                <a:spcPts val="6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Рассматриваете ли вы возможность участия в программе IPO и какие ожидания связаны с этим событием?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9128" y="1408176"/>
            <a:ext cx="448056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defRPr sz="1700" b="1">
                <a:solidFill>
                  <a:srgbClr val="B2E6D2"/>
                </a:solidFill>
                <a:latin typeface="Aptos"/>
              </a:defRPr>
            </a:pPr>
            <a:r>
              <a:t>Предлагаемые следующие шаги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865376"/>
            <a:ext cx="4434840" cy="2606040"/>
          </a:xfrm>
          <a:prstGeom prst="rect">
            <a:avLst/>
          </a:prstGeom>
          <a:noFill/>
        </p:spPr>
        <p:txBody>
          <a:bodyPr wrap="square" lIns="73152" rIns="45720" tIns="27432" bIns="27432">
            <a:normAutofit/>
          </a:bodyPr>
          <a:lstStyle/>
          <a:p>
            <a:pPr>
              <a:spcAft>
                <a:spcPts val="6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Провести углубленную аналитику текущих условий долгового портфеля клиента.</a:t>
            </a:r>
          </a:p>
          <a:p>
            <a:pPr>
              <a:spcAft>
                <a:spcPts val="6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Оценить прогнозируемые объемы временно свободных и требуемых средств.</a:t>
            </a:r>
          </a:p>
          <a:p>
            <a:pPr>
              <a:spcAft>
                <a:spcPts val="6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Изучить детали существующих и планируемых международных контрактов на поставку оборудования.</a:t>
            </a:r>
          </a:p>
          <a:p>
            <a:pPr>
              <a:spcAft>
                <a:spcPts val="6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Разработать индивидуальные сценарии применения выбранных инструментов с учетом специфики деятельности клиента.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11696" y="4736592"/>
            <a:ext cx="4498848" cy="960120"/>
          </a:xfrm>
          <a:prstGeom prst="roundRect">
            <a:avLst/>
          </a:prstGeom>
          <a:solidFill>
            <a:srgbClr val="0E4736"/>
          </a:solidFill>
          <a:ln>
            <a:solidFill>
              <a:srgbClr val="2D6F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22008" y="4919472"/>
            <a:ext cx="4069080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normAutofit/>
          </a:bodyPr>
          <a:lstStyle/>
          <a:p>
            <a:pPr algn="l">
              <a:defRPr sz="1050" b="0">
                <a:solidFill>
                  <a:srgbClr val="B8CFC7"/>
                </a:solidFill>
                <a:latin typeface="Aptos"/>
              </a:defRPr>
            </a:pPr>
            <a:r>
              <a:t>Финальные параметры обсуждаются после подтверждения объема, срока, графика денежных потоков и риск-профиля.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3657600" cy="20116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defRPr sz="900" b="0">
                <a:solidFill>
                  <a:srgbClr val="A5BEB5"/>
                </a:solidFill>
                <a:latin typeface="Aptos"/>
              </a:defRPr>
            </a:pPr>
            <a:r>
              <a:t>РЖД · Конфиденциально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