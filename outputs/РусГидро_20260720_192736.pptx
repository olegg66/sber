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40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4572000" cy="320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200" b="1">
                <a:solidFill>
                  <a:srgbClr val="AAE0CB"/>
                </a:solidFill>
                <a:latin typeface="Aptos"/>
              </a:defRPr>
            </a:pPr>
            <a:r>
              <a:t>КЛИЕНТСКАЯ ПРЕЗЕНТАЦИЯ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515600" cy="10515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"/>
              </a:defRPr>
            </a:pPr>
            <a:r>
              <a:t>РусГидро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9784080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2000" b="0">
                <a:solidFill>
                  <a:srgbClr val="E1EEE9"/>
                </a:solidFill>
                <a:latin typeface="Aptos"/>
              </a:defRPr>
            </a:pPr>
            <a:r>
              <a:t>Стратегические направления финансового взаимодействия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041648"/>
            <a:ext cx="4709160" cy="1353312"/>
          </a:xfrm>
          <a:prstGeom prst="roundRect">
            <a:avLst/>
          </a:prstGeom>
          <a:solidFill>
            <a:srgbClr val="195D48"/>
          </a:solidFill>
          <a:ln>
            <a:solidFill>
              <a:srgbClr val="398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4224528"/>
            <a:ext cx="41605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1150" b="1">
                <a:solidFill>
                  <a:srgbClr val="AAE0CB"/>
                </a:solidFill>
                <a:latin typeface="Aptos"/>
              </a:defRPr>
            </a:pPr>
            <a:r>
              <a:t>Цель встречи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645152"/>
            <a:ext cx="3246120" cy="5029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Обсудить риски, ликвидность и приоритетные финансовые решения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55080"/>
            <a:ext cx="4114800" cy="2286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900" b="0">
                <a:solidFill>
                  <a:srgbClr val="A5BEB5"/>
                </a:solidFill>
                <a:latin typeface="Aptos"/>
              </a:defRPr>
            </a:pPr>
            <a:r>
              <a:t>Конфиденциально · Рабочий материал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2500" b="1">
                <a:solidFill>
                  <a:srgbClr val="084031"/>
                </a:solidFill>
                <a:latin typeface="Aptos"/>
              </a:defRPr>
            </a:pPr>
            <a:r>
              <a:t>Профиль клиента и финансовые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347472"/>
            <a:ext cx="411480" cy="320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r">
              <a:defRPr sz="1100" b="1">
                <a:solidFill>
                  <a:srgbClr val="848F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96112"/>
            <a:ext cx="10972800" cy="22860"/>
          </a:xfrm>
          <a:prstGeom prst="rect">
            <a:avLst/>
          </a:prstGeom>
          <a:solidFill>
            <a:srgbClr val="12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170432"/>
            <a:ext cx="6995160" cy="5029200"/>
          </a:xfrm>
          <a:prstGeom prst="roundRect">
            <a:avLst/>
          </a:prstGeom>
          <a:solidFill>
            <a:srgbClr val="F2F9F6"/>
          </a:solidFill>
          <a:ln>
            <a:solidFill>
              <a:srgbClr val="E2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44752"/>
            <a:ext cx="630936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1600" b="1">
                <a:solidFill>
                  <a:srgbClr val="084031"/>
                </a:solidFill>
                <a:latin typeface="Aptos"/>
              </a:defRPr>
            </a:pPr>
            <a:r>
              <a:t>Профиль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38528"/>
            <a:ext cx="6355080" cy="1874519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2000" b="0">
                <a:solidFill>
                  <a:srgbClr val="1C2220"/>
                </a:solidFill>
                <a:latin typeface="Aptos"/>
              </a:defRPr>
            </a:pPr>
            <a:r>
              <a:t>Крупнейшая энергетическая компания с масштабной инвестиционной программой и значительным объемом долгового финансирования. Ключевые финансовые задачи связаны с управлением процентными ставками, обеспечением долгосрочной ликвидности и защитой от валютных рисков.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315968"/>
            <a:ext cx="1828800" cy="2743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100" b="1">
                <a:solidFill>
                  <a:srgbClr val="127855"/>
                </a:solidFill>
                <a:latin typeface="Aptos"/>
              </a:defRPr>
            </a:pPr>
            <a:r>
              <a:t>Ключевой фокус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45152"/>
            <a:ext cx="6263640" cy="8686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900" b="1">
                <a:solidFill>
                  <a:srgbClr val="084031"/>
                </a:solidFill>
                <a:latin typeface="Aptos"/>
              </a:defRPr>
            </a:pPr>
            <a:r>
              <a:t>Стратегические направления финансового взаимодействия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170432"/>
            <a:ext cx="3767328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BE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9872" y="1444752"/>
            <a:ext cx="315468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1600" b="1">
                <a:solidFill>
                  <a:srgbClr val="084031"/>
                </a:solidFill>
                <a:latin typeface="Aptos"/>
              </a:defRPr>
            </a:pPr>
            <a:r>
              <a:t>Финансовые задачи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965960"/>
            <a:ext cx="3154680" cy="3840480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600"/>
              </a:spcAft>
              <a:defRPr sz="1650">
                <a:solidFill>
                  <a:srgbClr val="1C2220"/>
                </a:solidFill>
                <a:latin typeface="Aptos"/>
              </a:defRPr>
            </a:pPr>
            <a:r>
              <a:t>• Хеджирование процентного риска по займам</a:t>
            </a:r>
          </a:p>
          <a:p>
            <a:pPr>
              <a:spcAft>
                <a:spcPts val="600"/>
              </a:spcAft>
              <a:defRPr sz="1650">
                <a:solidFill>
                  <a:srgbClr val="1C2220"/>
                </a:solidFill>
                <a:latin typeface="Aptos"/>
              </a:defRPr>
            </a:pPr>
            <a:r>
              <a:t>• Долгосрочное финансирование инвестиционных проектов</a:t>
            </a:r>
          </a:p>
          <a:p>
            <a:pPr>
              <a:spcAft>
                <a:spcPts val="600"/>
              </a:spcAft>
              <a:defRPr sz="1650">
                <a:solidFill>
                  <a:srgbClr val="1C2220"/>
                </a:solidFill>
                <a:latin typeface="Aptos"/>
              </a:defRPr>
            </a:pPr>
            <a:r>
              <a:t>• Управление валютными платежами за импортное оборудование</a:t>
            </a:r>
          </a:p>
          <a:p>
            <a:pPr>
              <a:spcAft>
                <a:spcPts val="600"/>
              </a:spcAft>
              <a:defRPr sz="1650">
                <a:solidFill>
                  <a:srgbClr val="1C2220"/>
                </a:solidFill>
                <a:latin typeface="Aptos"/>
              </a:defRPr>
            </a:pPr>
            <a:r>
              <a:t>• Оптимизация структуры депозитов и ликвидности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850" b="0">
                <a:solidFill>
                  <a:srgbClr val="848F8B"/>
                </a:solidFill>
                <a:latin typeface="Aptos"/>
              </a:defRPr>
            </a:pPr>
            <a:r>
              <a:t>РусГидро · Материалы к клиентской встрече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510528"/>
            <a:ext cx="324612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>
              <a:defRPr sz="850" b="0">
                <a:solidFill>
                  <a:srgbClr val="848F8B"/>
                </a:solidFill>
                <a:latin typeface="Aptos"/>
              </a:defRPr>
            </a:pPr>
            <a:r>
              <a:t>Сформировано на основе локальной базы данных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2500" b="1">
                <a:solidFill>
                  <a:srgbClr val="084031"/>
                </a:solidFill>
                <a:latin typeface="Aptos"/>
              </a:defRPr>
            </a:pPr>
            <a:r>
              <a:t>Ключевые финансовые риски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347472"/>
            <a:ext cx="411480" cy="320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r">
              <a:defRPr sz="1100" b="1">
                <a:solidFill>
                  <a:srgbClr val="848F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96112"/>
            <a:ext cx="10972800" cy="22860"/>
          </a:xfrm>
          <a:prstGeom prst="rect">
            <a:avLst/>
          </a:prstGeom>
          <a:solidFill>
            <a:srgbClr val="12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394960" cy="2148840"/>
          </a:xfrm>
          <a:prstGeom prst="roundRect">
            <a:avLst/>
          </a:prstGeom>
          <a:solidFill>
            <a:srgbClr val="F2F9F6"/>
          </a:solidFill>
          <a:ln>
            <a:solidFill>
              <a:srgbClr val="E2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95528" y="1417320"/>
            <a:ext cx="502920" cy="502920"/>
          </a:xfrm>
          <a:prstGeom prst="roundRect">
            <a:avLst/>
          </a:prstGeom>
          <a:solidFill>
            <a:srgbClr val="12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" y="1440180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399032"/>
            <a:ext cx="4160520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1800" b="1">
                <a:solidFill>
                  <a:srgbClr val="084031"/>
                </a:solidFill>
                <a:latin typeface="Aptos"/>
              </a:defRPr>
            </a:pPr>
            <a:r>
              <a:t>Рост процентных ставок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075688"/>
            <a:ext cx="4800600" cy="960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550" b="0">
                <a:solidFill>
                  <a:srgbClr val="49524F"/>
                </a:solidFill>
                <a:latin typeface="Aptos"/>
              </a:defRPr>
            </a:pPr>
            <a:r>
              <a:t>Повышает расходы по обслуживанию долга и увеличивает финансовую нагрузку.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234440"/>
            <a:ext cx="5394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417320"/>
            <a:ext cx="502920" cy="502920"/>
          </a:xfrm>
          <a:prstGeom prst="roundRect">
            <a:avLst/>
          </a:prstGeom>
          <a:solidFill>
            <a:srgbClr val="12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1440180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8312" y="1399032"/>
            <a:ext cx="4160520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1800" b="1">
                <a:solidFill>
                  <a:srgbClr val="084031"/>
                </a:solidFill>
                <a:latin typeface="Aptos"/>
              </a:defRPr>
            </a:pPr>
            <a:r>
              <a:t>Необходимость финансирования крупных проектов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075688"/>
            <a:ext cx="4800600" cy="960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550" b="0">
                <a:solidFill>
                  <a:srgbClr val="49524F"/>
                </a:solidFill>
                <a:latin typeface="Aptos"/>
              </a:defRPr>
            </a:pPr>
            <a:r>
              <a:t>Требуется стабильное и надежное привлечение ресурсов на длительный срок.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03320"/>
            <a:ext cx="5394960" cy="2148840"/>
          </a:xfrm>
          <a:prstGeom prst="roundRect">
            <a:avLst/>
          </a:prstGeom>
          <a:solidFill>
            <a:srgbClr val="F2F9F6"/>
          </a:solidFill>
          <a:ln>
            <a:solidFill>
              <a:srgbClr val="E2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5528" y="3886200"/>
            <a:ext cx="502920" cy="502920"/>
          </a:xfrm>
          <a:prstGeom prst="roundRect">
            <a:avLst/>
          </a:prstGeom>
          <a:solidFill>
            <a:srgbClr val="12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" y="3909059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867911"/>
            <a:ext cx="4160520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1800" b="1">
                <a:solidFill>
                  <a:srgbClr val="084031"/>
                </a:solidFill>
                <a:latin typeface="Aptos"/>
              </a:defRPr>
            </a:pPr>
            <a:r>
              <a:t>Валютные колебания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544568"/>
            <a:ext cx="4800600" cy="960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550" b="0">
                <a:solidFill>
                  <a:srgbClr val="49524F"/>
                </a:solidFill>
                <a:latin typeface="Aptos"/>
              </a:defRPr>
            </a:pPr>
            <a:r>
              <a:t>Импорт оборудования создает зависимость от изменений курсов иностранных валют.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3703320"/>
            <a:ext cx="5394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3886200"/>
            <a:ext cx="502920" cy="502920"/>
          </a:xfrm>
          <a:prstGeom prst="roundRect">
            <a:avLst/>
          </a:prstGeom>
          <a:solidFill>
            <a:srgbClr val="12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2804" y="3909059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8312" y="3867911"/>
            <a:ext cx="4160520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1800" b="1">
                <a:solidFill>
                  <a:srgbClr val="084031"/>
                </a:solidFill>
                <a:latin typeface="Aptos"/>
              </a:defRPr>
            </a:pPr>
            <a:r>
              <a:t>Сезонность платежей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4544568"/>
            <a:ext cx="4800600" cy="960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550" b="0">
                <a:solidFill>
                  <a:srgbClr val="49524F"/>
                </a:solidFill>
                <a:latin typeface="Aptos"/>
              </a:defRPr>
            </a:pPr>
            <a:r>
              <a:t>Создает потенциальные кассовые разрывы и требует эффективного планирования ликвидности.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850" b="0">
                <a:solidFill>
                  <a:srgbClr val="848F8B"/>
                </a:solidFill>
                <a:latin typeface="Aptos"/>
              </a:defRPr>
            </a:pPr>
            <a:r>
              <a:t>РусГидро · Материалы к клиентской встрече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6510528"/>
            <a:ext cx="324612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>
              <a:defRPr sz="850" b="0">
                <a:solidFill>
                  <a:srgbClr val="848F8B"/>
                </a:solidFill>
                <a:latin typeface="Aptos"/>
              </a:defRPr>
            </a:pPr>
            <a:r>
              <a:t>Сформировано на основе локальной базы данных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2500" b="1">
                <a:solidFill>
                  <a:srgbClr val="084031"/>
                </a:solidFill>
                <a:latin typeface="Aptos"/>
              </a:defRPr>
            </a:pPr>
            <a:r>
              <a:t>Приоритетные продуктовые идеи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347472"/>
            <a:ext cx="411480" cy="320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r">
              <a:defRPr sz="1100" b="1">
                <a:solidFill>
                  <a:srgbClr val="848F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96112"/>
            <a:ext cx="10972800" cy="22860"/>
          </a:xfrm>
          <a:prstGeom prst="rect">
            <a:avLst/>
          </a:prstGeom>
          <a:solidFill>
            <a:srgbClr val="12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394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417320"/>
            <a:ext cx="1143000" cy="2560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950" b="1">
                <a:solidFill>
                  <a:srgbClr val="127855"/>
                </a:solidFill>
                <a:latin typeface="Aptos"/>
              </a:defRPr>
            </a:pPr>
            <a:r>
              <a:t>ВЫСОКИЙ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719072"/>
            <a:ext cx="4754880" cy="38404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900" b="1">
                <a:solidFill>
                  <a:srgbClr val="084031"/>
                </a:solidFill>
                <a:latin typeface="Aptos"/>
              </a:defRPr>
            </a:pPr>
            <a:r>
              <a:t>IRS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67128"/>
            <a:ext cx="4800600" cy="65836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450" b="0">
                <a:solidFill>
                  <a:srgbClr val="1C2220"/>
                </a:solidFill>
                <a:latin typeface="Aptos"/>
              </a:defRPr>
            </a:pPr>
            <a:r>
              <a:t>Позволяет зафиксировать текущую ставку обслуживания долга и защититься от возможного повышения ставок.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862072"/>
            <a:ext cx="4800600" cy="3383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050" b="0">
                <a:solidFill>
                  <a:srgbClr val="848F8B"/>
                </a:solidFill>
                <a:latin typeface="Aptos"/>
              </a:defRPr>
            </a:pPr>
            <a:r>
              <a:t>Условие: Необходимо учитывать структуру текущего долга и сроки обязательств.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234440"/>
            <a:ext cx="5394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417320"/>
            <a:ext cx="1143000" cy="2560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950" b="1">
                <a:solidFill>
                  <a:srgbClr val="D3912B"/>
                </a:solidFill>
                <a:latin typeface="Aptos"/>
              </a:defRPr>
            </a:pPr>
            <a:r>
              <a:t>СРЕДНИЙ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1719072"/>
            <a:ext cx="4754880" cy="38404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900" b="1">
                <a:solidFill>
                  <a:srgbClr val="084031"/>
                </a:solidFill>
                <a:latin typeface="Aptos"/>
              </a:defRPr>
            </a:pPr>
            <a:r>
              <a:t>FX Forward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167128"/>
            <a:ext cx="4800600" cy="65836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450" b="0">
                <a:solidFill>
                  <a:srgbClr val="1C2220"/>
                </a:solidFill>
                <a:latin typeface="Aptos"/>
              </a:defRPr>
            </a:pPr>
            <a:r>
              <a:t>Подходит для хеджирования подтвержденных валютных платежей за оборудование.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862072"/>
            <a:ext cx="4800600" cy="3383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050" b="0">
                <a:solidFill>
                  <a:srgbClr val="848F8B"/>
                </a:solidFill>
                <a:latin typeface="Aptos"/>
              </a:defRPr>
            </a:pPr>
            <a:r>
              <a:t>Условие: Применимо только при наличии четкого графика закупок.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03320"/>
            <a:ext cx="5394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86200"/>
            <a:ext cx="1143000" cy="2560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950" b="1">
                <a:solidFill>
                  <a:srgbClr val="127855"/>
                </a:solidFill>
                <a:latin typeface="Aptos"/>
              </a:defRPr>
            </a:pPr>
            <a:r>
              <a:t>ВЫСОКИЙ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187952"/>
            <a:ext cx="4754880" cy="38404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900" b="1">
                <a:solidFill>
                  <a:srgbClr val="084031"/>
                </a:solidFill>
                <a:latin typeface="Aptos"/>
              </a:defRPr>
            </a:pPr>
            <a:r>
              <a:t>Deposit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4636008"/>
            <a:ext cx="4800600" cy="65836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450" b="0">
                <a:solidFill>
                  <a:srgbClr val="1C2220"/>
                </a:solidFill>
                <a:latin typeface="Aptos"/>
              </a:defRPr>
            </a:pPr>
            <a:r>
              <a:t>Обеспечивает безопасное размещение временно свободных средств с гарантированной доходностью.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5330952"/>
            <a:ext cx="4800600" cy="3383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050" b="0">
                <a:solidFill>
                  <a:srgbClr val="848F8B"/>
                </a:solidFill>
                <a:latin typeface="Aptos"/>
              </a:defRPr>
            </a:pPr>
            <a:r>
              <a:t>Условие: Эффективно при ясном понимании горизонта ликвидности.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3703320"/>
            <a:ext cx="5394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3886200"/>
            <a:ext cx="1143000" cy="2560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950" b="1">
                <a:solidFill>
                  <a:srgbClr val="D3912B"/>
                </a:solidFill>
                <a:latin typeface="Aptos"/>
              </a:defRPr>
            </a:pPr>
            <a:r>
              <a:t>НИЗКИЙ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4187952"/>
            <a:ext cx="4754880" cy="38404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900" b="1">
                <a:solidFill>
                  <a:srgbClr val="084031"/>
                </a:solidFill>
                <a:latin typeface="Aptos"/>
              </a:defRPr>
            </a:pPr>
            <a:r>
              <a:t>Structured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636008"/>
            <a:ext cx="4800600" cy="65836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450" b="0">
                <a:solidFill>
                  <a:srgbClr val="1C2220"/>
                </a:solidFill>
                <a:latin typeface="Aptos"/>
              </a:defRPr>
            </a:pPr>
            <a:r>
              <a:t>Может рассматриваться как альтернатива классическим инструментам при наличии свободного капитала.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330952"/>
            <a:ext cx="4800600" cy="3383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050" b="0">
                <a:solidFill>
                  <a:srgbClr val="848F8B"/>
                </a:solidFill>
                <a:latin typeface="Aptos"/>
              </a:defRPr>
            </a:pPr>
            <a:r>
              <a:t>Условие: Допустима лишь при утвержденном риск-профиле и наличии избыточной ликвидности.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850" b="0">
                <a:solidFill>
                  <a:srgbClr val="848F8B"/>
                </a:solidFill>
                <a:latin typeface="Aptos"/>
              </a:defRPr>
            </a:pPr>
            <a:r>
              <a:t>РусГидро · Материалы к клиентской встрече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6510528"/>
            <a:ext cx="324612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>
              <a:defRPr sz="850" b="0">
                <a:solidFill>
                  <a:srgbClr val="848F8B"/>
                </a:solidFill>
                <a:latin typeface="Aptos"/>
              </a:defRPr>
            </a:pPr>
            <a:r>
              <a:t>Сформировано на основе локальной базы данных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2500" b="1">
                <a:solidFill>
                  <a:srgbClr val="084031"/>
                </a:solidFill>
                <a:latin typeface="Aptos"/>
              </a:defRPr>
            </a:pPr>
            <a:r>
              <a:t>Новости и контекст для встречи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347472"/>
            <a:ext cx="411480" cy="320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r">
              <a:defRPr sz="1100" b="1">
                <a:solidFill>
                  <a:srgbClr val="848F8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96112"/>
            <a:ext cx="10972800" cy="22860"/>
          </a:xfrm>
          <a:prstGeom prst="rect">
            <a:avLst/>
          </a:prstGeom>
          <a:solidFill>
            <a:srgbClr val="12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10972800" cy="5074920"/>
          </a:xfrm>
          <a:prstGeom prst="roundRect">
            <a:avLst/>
          </a:prstGeom>
          <a:solidFill>
            <a:srgbClr val="F2F9F6"/>
          </a:solidFill>
          <a:ln>
            <a:solidFill>
              <a:srgbClr val="E2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61872"/>
            <a:ext cx="745236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rmAutofit/>
          </a:bodyPr>
          <a:lstStyle/>
          <a:p>
            <a:pPr algn="l">
              <a:defRPr sz="1350" b="1">
                <a:solidFill>
                  <a:srgbClr val="084031"/>
                </a:solidFill>
                <a:latin typeface="Aptos"/>
              </a:defRPr>
            </a:pPr>
            <a:r>
              <a:t>Антон Дорофеев стал новым руководителем Нижегородской ГЭС — филиала ПАО «Русгидро», сменив на посту Александра Гойзебанда, который покинул…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271016"/>
            <a:ext cx="267004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rmAutofit/>
          </a:bodyPr>
          <a:lstStyle/>
          <a:p>
            <a:pPr algn="r">
              <a:defRPr sz="1000" b="1">
                <a:solidFill>
                  <a:srgbClr val="127855"/>
                </a:solidFill>
                <a:latin typeface="Aptos"/>
              </a:defRPr>
            </a:pPr>
            <a:r>
              <a:t>https://nn.aif.ru/rss/googlearticles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865376"/>
            <a:ext cx="10012680" cy="4251959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rmAutofit/>
          </a:bodyPr>
          <a:lstStyle/>
          <a:p>
            <a:pPr algn="l">
              <a:defRPr sz="1220" b="0">
                <a:solidFill>
                  <a:srgbClr val="49524F"/>
                </a:solidFill>
                <a:latin typeface="Aptos"/>
              </a:defRPr>
            </a:pPr>
            <a:r>
              <a:t>Изменения в руководстве ключевых подразделений могут повлиять на принятие стратегических финансовых решений и подход к управлению рисками.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850" b="0">
                <a:solidFill>
                  <a:srgbClr val="848F8B"/>
                </a:solidFill>
                <a:latin typeface="Aptos"/>
              </a:defRPr>
            </a:pPr>
            <a:r>
              <a:t>РусГидро · Материалы к клиентской встрече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6510528"/>
            <a:ext cx="324612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>
              <a:defRPr sz="850" b="0">
                <a:solidFill>
                  <a:srgbClr val="848F8B"/>
                </a:solidFill>
                <a:latin typeface="Aptos"/>
              </a:defRPr>
            </a:pPr>
            <a:r>
              <a:t>Сформировано на основе локальной базы данных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40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698480" cy="5029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norm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Вопросы к клиенту и следующие шаги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5532120" cy="4983480"/>
          </a:xfrm>
          <a:prstGeom prst="roundRect">
            <a:avLst/>
          </a:prstGeom>
          <a:solidFill>
            <a:srgbClr val="12513E"/>
          </a:solidFill>
          <a:ln>
            <a:solidFill>
              <a:srgbClr val="337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46520" y="1143000"/>
            <a:ext cx="5074920" cy="4983480"/>
          </a:xfrm>
          <a:prstGeom prst="roundRect">
            <a:avLst/>
          </a:prstGeom>
          <a:solidFill>
            <a:srgbClr val="12513E"/>
          </a:solidFill>
          <a:ln>
            <a:solidFill>
              <a:srgbClr val="337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08176"/>
            <a:ext cx="493776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1700" b="1">
                <a:solidFill>
                  <a:srgbClr val="B2E6D2"/>
                </a:solidFill>
                <a:latin typeface="Aptos"/>
              </a:defRPr>
            </a:pPr>
            <a:r>
              <a:t>Вопросы на встречу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865376"/>
            <a:ext cx="4919472" cy="3794760"/>
          </a:xfrm>
          <a:prstGeom prst="rect">
            <a:avLst/>
          </a:prstGeom>
          <a:noFill/>
        </p:spPr>
        <p:txBody>
          <a:bodyPr wrap="square" lIns="73152" rIns="45720" tIns="27432" bIns="27432">
            <a:normAutofit/>
          </a:bodyPr>
          <a:lstStyle/>
          <a:p>
            <a:pPr>
              <a:spcAft>
                <a:spcPts val="6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Каковы ваши планы по привлечению финансирования для текущих и новых инвестиционных проектов?</a:t>
            </a:r>
          </a:p>
          <a:p>
            <a:pPr>
              <a:spcAft>
                <a:spcPts val="6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Есть ли утвержденный график валютных платежей за импортируемое оборудование?</a:t>
            </a:r>
          </a:p>
          <a:p>
            <a:pPr>
              <a:spcAft>
                <a:spcPts val="6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Какой объем временно свободных денежных средств планируется в ближайшие кварталы?</a:t>
            </a:r>
          </a:p>
          <a:p>
            <a:pPr>
              <a:spcAft>
                <a:spcPts val="6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Рассматриваете ли вы возможность хеджирования процентного риска по существующим займам?</a:t>
            </a:r>
          </a:p>
          <a:p>
            <a:pPr>
              <a:spcAft>
                <a:spcPts val="6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Какие инструменты используете для управления кассовыми разрывами?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9128" y="1408176"/>
            <a:ext cx="448056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1700" b="1">
                <a:solidFill>
                  <a:srgbClr val="B2E6D2"/>
                </a:solidFill>
                <a:latin typeface="Aptos"/>
              </a:defRPr>
            </a:pPr>
            <a:r>
              <a:t>Предлагаемые следующие шаги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865376"/>
            <a:ext cx="4434840" cy="2606040"/>
          </a:xfrm>
          <a:prstGeom prst="rect">
            <a:avLst/>
          </a:prstGeom>
          <a:noFill/>
        </p:spPr>
        <p:txBody>
          <a:bodyPr wrap="square" lIns="73152" rIns="45720" tIns="27432" bIns="27432">
            <a:normAutofit/>
          </a:bodyPr>
          <a:lstStyle/>
          <a:p>
            <a:pPr>
              <a:spcAft>
                <a:spcPts val="6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Провести углубленную встречу с финансовой командой клиента для уточнения потребностей.</a:t>
            </a:r>
          </a:p>
          <a:p>
            <a:pPr>
              <a:spcAft>
                <a:spcPts val="6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Проанализировать актуальную структуру долга и запланированные платежи.</a:t>
            </a:r>
          </a:p>
          <a:p>
            <a:pPr>
              <a:spcAft>
                <a:spcPts val="6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Предоставить сравнительный обзор инструментов процентного хеджирования.</a:t>
            </a:r>
          </a:p>
          <a:p>
            <a:pPr>
              <a:spcAft>
                <a:spcPts val="6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Разработать индивидуальное предложение по оптимальному размещению ликвидности.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11696" y="4736592"/>
            <a:ext cx="4498848" cy="960120"/>
          </a:xfrm>
          <a:prstGeom prst="roundRect">
            <a:avLst/>
          </a:prstGeom>
          <a:solidFill>
            <a:srgbClr val="0E4736"/>
          </a:solidFill>
          <a:ln>
            <a:solidFill>
              <a:srgbClr val="2D6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22008" y="4919472"/>
            <a:ext cx="4069080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normAutofit/>
          </a:bodyPr>
          <a:lstStyle/>
          <a:p>
            <a:pPr algn="l">
              <a:defRPr sz="1050" b="0">
                <a:solidFill>
                  <a:srgbClr val="B8CFC7"/>
                </a:solidFill>
                <a:latin typeface="Aptos"/>
              </a:defRPr>
            </a:pPr>
            <a:r>
              <a:t>Финальные параметры обсуждаются после подтверждения объема, срока, графика денежных потоков и риск-профиля.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3657600" cy="20116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900" b="0">
                <a:solidFill>
                  <a:srgbClr val="A5BEB5"/>
                </a:solidFill>
                <a:latin typeface="Aptos"/>
              </a:defRPr>
            </a:pPr>
            <a:r>
              <a:t>РусГидро · Конфиденциально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