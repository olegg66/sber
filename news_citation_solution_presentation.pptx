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570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5F98"/>
          </a:solidFill>
          <a:ln w="12700">
            <a:solidFill>
              <a:srgbClr val="2F5F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7498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Цитируемость новостей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68096" y="135331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</a:rPr>
              <a:t>NLP-пайплайн для определения компании, отрасли и растиражированности события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1417320" cy="713232"/>
          </a:xfrm>
          <a:prstGeom prst="rect">
            <a:avLst/>
          </a:prstGeom>
          <a:solidFill>
            <a:srgbClr val="18233A"/>
          </a:solidFill>
          <a:ln w="12700">
            <a:solidFill>
              <a:srgbClr val="1823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news.csv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22576" y="4023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79192" y="3794760"/>
            <a:ext cx="1417320" cy="713232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Компания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78808" y="4023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35424" y="3794760"/>
            <a:ext cx="1417320" cy="713232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Отрасль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0" y="4023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91656" y="3794760"/>
            <a:ext cx="1417320" cy="713232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Событие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91272" y="4023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47888" y="3794760"/>
            <a:ext cx="1417320" cy="713232"/>
          </a:xfrm>
          <a:prstGeom prst="rect">
            <a:avLst/>
          </a:prstGeom>
          <a:solidFill>
            <a:srgbClr val="DFF5EC"/>
          </a:solidFill>
          <a:ln w="12700">
            <a:solidFill>
              <a:srgbClr val="DFF5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Цитируемость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747504" y="4023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104120" y="3794760"/>
            <a:ext cx="1417320" cy="7132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201400" y="64830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5F98"/>
          </a:solidFill>
          <a:ln w="12700">
            <a:solidFill>
              <a:srgbClr val="2F5F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5F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ПОСТАНОВКА ЗАДАЧИ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577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требовалось получить на выходе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115568"/>
            <a:ext cx="108356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1965960" cy="1005840"/>
          </a:xfrm>
          <a:prstGeom prst="rect">
            <a:avLst/>
          </a:prstGeom>
          <a:solidFill>
            <a:srgbClr val="18233A"/>
          </a:solidFill>
          <a:ln w="12700">
            <a:solidFill>
              <a:srgbClr val="1823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Входные данные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news.csv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80944" y="19842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66160" y="1600200"/>
            <a:ext cx="2468880" cy="1005840"/>
          </a:xfrm>
          <a:prstGeom prst="rect">
            <a:avLst/>
          </a:prstGeom>
          <a:solidFill>
            <a:srgbClr val="EAF2FB"/>
          </a:solidFill>
          <a:ln w="12700">
            <a:solidFill>
              <a:srgbClr val="B8D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NLP-пайплайн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Jupyter Notebook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81928" y="19842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903720" y="1600200"/>
            <a:ext cx="2423160" cy="1005840"/>
          </a:xfrm>
          <a:prstGeom prst="rect">
            <a:avLst/>
          </a:prstGeom>
          <a:solidFill>
            <a:srgbClr val="DFF5EC"/>
          </a:solidFill>
          <a:ln w="12700">
            <a:solidFill>
              <a:srgbClr val="B9E8D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Финальная таблица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news_final.csv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28048" y="19842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76688" y="1600200"/>
            <a:ext cx="1417320" cy="1005840"/>
          </a:xfrm>
          <a:prstGeom prst="rect">
            <a:avLst/>
          </a:prstGeom>
          <a:solidFill>
            <a:srgbClr val="FFF2CC"/>
          </a:solidFill>
          <a:ln w="12700">
            <a:solidFill>
              <a:srgbClr val="EFD6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События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events.csv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5F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каждой новости: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3822192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компания из списка клиентов, если новость к ней относится
• одна из 14 отраслей
• event_id — группа публикаций об одном событии
• citation_index — индекс растиражированности события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97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Методологическое ограничение: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3822192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без времени публикации и URL нельзя доказать прямое цитирование
• поэтому считаем не «кто кого процитировал», а сколько источников растиражировали один инфоповод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201400" y="64830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5F98"/>
          </a:solidFill>
          <a:ln w="12700">
            <a:solidFill>
              <a:srgbClr val="2F5F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5F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КОМПАНИИ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577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Блок 1: определение компании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115568"/>
            <a:ext cx="108356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17320"/>
            <a:ext cx="2240280" cy="868680"/>
          </a:xfrm>
          <a:prstGeom prst="rect">
            <a:avLst/>
          </a:prstGeom>
          <a:solidFill>
            <a:srgbClr val="EAF2FB"/>
          </a:solidFill>
          <a:ln w="12700">
            <a:solidFill>
              <a:srgbClr val="B8D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clients.json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целевых клиентов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703320" y="1417320"/>
            <a:ext cx="224028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D7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Алиасы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нормализация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1417320"/>
            <a:ext cx="2514600" cy="868680"/>
          </a:xfrm>
          <a:prstGeom prst="rect">
            <a:avLst/>
          </a:prstGeom>
          <a:solidFill>
            <a:srgbClr val="F4F6F8"/>
          </a:solidFill>
          <a:ln w="12700">
            <a:solidFill>
              <a:srgbClr val="D7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Взвешенный поиск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заголовок / lead / тело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738360" y="1417320"/>
            <a:ext cx="1691640" cy="868680"/>
          </a:xfrm>
          <a:prstGeom prst="rect">
            <a:avLst/>
          </a:prstGeom>
          <a:solidFill>
            <a:srgbClr val="DFF5EC"/>
          </a:solidFill>
          <a:ln w="12700">
            <a:solidFill>
              <a:srgbClr val="B9E8D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target_client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или None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182112" y="171907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53328" y="171907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217152" y="1719072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8680" y="2999232"/>
            <a:ext cx="5852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не принуждаем каждую новость иметь компанию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8680" y="3511296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в датасете могут быть новости о политике, экономике, науке или регионах без конкретной компании
• условие требует определить компанию, если она есть; отсутствие компании — валидный результат
• для бизнес-задачи важнее точно найти новости по клиентам, чем искусственно заполнять все строки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06640" y="2999232"/>
            <a:ext cx="3108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 логики score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06640" y="3584448"/>
            <a:ext cx="3566160" cy="1261872"/>
          </a:xfrm>
          <a:prstGeom prst="rect">
            <a:avLst/>
          </a:prstGeom>
          <a:solidFill>
            <a:srgbClr val="FFF9E8"/>
          </a:solidFill>
          <a:ln w="12700">
            <a:solidFill>
              <a:srgbClr val="ECD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× упоминание в заголовке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+ 2 × упоминание в начале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+ 1 × упоминание в тексте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406640" y="5157216"/>
            <a:ext cx="3611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Выход: target_client, score, confidence, candidates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201400" y="64830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5F98"/>
          </a:solidFill>
          <a:ln w="12700">
            <a:solidFill>
              <a:srgbClr val="2F5F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5F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ОТРАСЛИ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577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Блок 2: классификация отрасли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115568"/>
            <a:ext cx="108356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2743200" cy="914400"/>
          </a:xfrm>
          <a:prstGeom prst="rect">
            <a:avLst/>
          </a:prstGeom>
          <a:solidFill>
            <a:srgbClr val="EAF2FB"/>
          </a:solidFill>
          <a:ln w="12700">
            <a:solidFill>
              <a:srgbClr val="B8D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Семантические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прототипы отраслей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09160" y="1828800"/>
            <a:ext cx="2743200" cy="914400"/>
          </a:xfrm>
          <a:prstGeom prst="rect">
            <a:avLst/>
          </a:prstGeom>
          <a:solidFill>
            <a:srgbClr val="FFF2CC"/>
          </a:solidFill>
          <a:ln w="12700">
            <a:solidFill>
              <a:srgbClr val="EFD6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Ключевые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слова отраслей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03920" y="1828800"/>
            <a:ext cx="2743200" cy="914400"/>
          </a:xfrm>
          <a:prstGeom prst="rect">
            <a:avLst/>
          </a:prstGeom>
          <a:solidFill>
            <a:srgbClr val="DFF5EC"/>
          </a:solidFill>
          <a:ln w="12700">
            <a:solidFill>
              <a:srgbClr val="B9E8D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Мягкий prior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 клиенту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86200" y="2148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08392" y="2148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87952" y="3886200"/>
            <a:ext cx="3977640" cy="932688"/>
          </a:xfrm>
          <a:prstGeom prst="rect">
            <a:avLst/>
          </a:prstGeom>
          <a:solidFill>
            <a:srgbClr val="18233A"/>
          </a:solidFill>
          <a:ln w="12700">
            <a:solidFill>
              <a:srgbClr val="1823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Итоговая отрасль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 14 категорий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606040" y="28986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F5F98"/>
                </a:solidFill>
              </a:rPr>
              <a:t>↘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70448" y="28986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F5F98"/>
                </a:solidFill>
              </a:rPr>
              <a:t>↓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0" y="28986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F5F98"/>
                </a:solidFill>
              </a:rPr>
              <a:t>↙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68680" y="5285232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семантика отвечает за общий смысл новости
• словарь усиливает явные маркеры: нефть, ГЭС, ипотека, 5G, урожай
• prior компании маленький: новость про Норникель может быть экологией, а не металлургией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1201400" y="64830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5F98"/>
          </a:solidFill>
          <a:ln w="12700">
            <a:solidFill>
              <a:srgbClr val="2F5F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5F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СОБЫТИЯ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577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Блок 3: группировка новостей в события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115568"/>
            <a:ext cx="108356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44752"/>
            <a:ext cx="1920240" cy="603504"/>
          </a:xfrm>
          <a:prstGeom prst="rect">
            <a:avLst/>
          </a:prstGeom>
          <a:solidFill>
            <a:srgbClr val="F4F6F8"/>
          </a:solidFill>
          <a:ln w="12700">
            <a:solidFill>
              <a:srgbClr val="D7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Заголовок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1920240" cy="603504"/>
          </a:xfrm>
          <a:prstGeom prst="rect">
            <a:avLst/>
          </a:prstGeom>
          <a:solidFill>
            <a:srgbClr val="F4F6F8"/>
          </a:solidFill>
          <a:ln w="12700">
            <a:solidFill>
              <a:srgbClr val="D7DE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Начало текста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0" y="1901952"/>
            <a:ext cx="2057400" cy="731520"/>
          </a:xfrm>
          <a:prstGeom prst="rect">
            <a:avLst/>
          </a:prstGeom>
          <a:solidFill>
            <a:srgbClr val="EAF2FB"/>
          </a:solidFill>
          <a:ln w="12700">
            <a:solidFill>
              <a:srgbClr val="B8D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1901952"/>
            <a:ext cx="2057400" cy="731520"/>
          </a:xfrm>
          <a:prstGeom prst="rect">
            <a:avLst/>
          </a:prstGeom>
          <a:solidFill>
            <a:srgbClr val="FFF2CC"/>
          </a:solidFill>
          <a:ln w="12700">
            <a:solidFill>
              <a:srgbClr val="EFD6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Матрица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сходства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35440" y="1901952"/>
            <a:ext cx="2240280" cy="731520"/>
          </a:xfrm>
          <a:prstGeom prst="rect">
            <a:avLst/>
          </a:prstGeom>
          <a:solidFill>
            <a:srgbClr val="DFF5EC"/>
          </a:solidFill>
          <a:ln w="12700">
            <a:solidFill>
              <a:srgbClr val="B9E8D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Agglomerative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71800" y="2148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897880" y="2148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68512" y="21488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8680" y="3520440"/>
            <a:ext cx="4480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D979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Ключевая правка: слабые заголовки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8680" y="3986784"/>
            <a:ext cx="1965960" cy="1115568"/>
          </a:xfrm>
          <a:prstGeom prst="rect">
            <a:avLst/>
          </a:prstGeom>
          <a:solidFill>
            <a:srgbClr val="FFF3F3"/>
          </a:solidFill>
          <a:ln w="12700">
            <a:solidFill>
              <a:srgbClr val="E7B5B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«Москва»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B8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«Уфа»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B8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«Россия»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944368" y="44165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566160" y="3986784"/>
            <a:ext cx="2194560" cy="1115568"/>
          </a:xfrm>
          <a:prstGeom prst="rect">
            <a:avLst/>
          </a:prstGeom>
          <a:solidFill>
            <a:srgbClr val="FFF9E8"/>
          </a:solidFill>
          <a:ln w="12700">
            <a:solidFill>
              <a:srgbClr val="ECD68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доказывают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одно событие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0" y="44165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9400" y="3986784"/>
            <a:ext cx="2743200" cy="1115568"/>
          </a:xfrm>
          <a:prstGeom prst="rect">
            <a:avLst/>
          </a:prstGeom>
          <a:solidFill>
            <a:srgbClr val="DFF5EC"/>
          </a:solidFill>
          <a:ln w="12700">
            <a:solidFill>
              <a:srgbClr val="B9E8D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решение принимается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 тексту новости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" y="5632704"/>
            <a:ext cx="94183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Иначе разные события с одинаковым городом сливались в один кластер и завышали цитируемость.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201400" y="64830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5F98"/>
          </a:solidFill>
          <a:ln w="12700">
            <a:solidFill>
              <a:srgbClr val="2F5F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5F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ИСТОЧНИКИ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577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Блок 4: источники и Telegram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115568"/>
            <a:ext cx="108356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54480"/>
            <a:ext cx="1828800" cy="530352"/>
          </a:xfrm>
          <a:prstGeom prst="rect">
            <a:avLst/>
          </a:prstGeom>
          <a:solidFill>
            <a:srgbClr val="FFF3F3"/>
          </a:solidFill>
          <a:ln w="12700">
            <a:solidFill>
              <a:srgbClr val="E7B5B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Было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0233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https://t.me/s/banksta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https://t.me/s/rbc_news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https://t.me/s/rian_ru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4920" y="2697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15000" y="2359152"/>
            <a:ext cx="2743200" cy="914400"/>
          </a:xfrm>
          <a:prstGeom prst="rect">
            <a:avLst/>
          </a:prstGeom>
          <a:solidFill>
            <a:srgbClr val="FFF3F3"/>
          </a:solidFill>
          <a:ln w="12700">
            <a:solidFill>
              <a:srgbClr val="E7B5B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ошибка: все превращались в t 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1828800" cy="530352"/>
          </a:xfrm>
          <a:prstGeom prst="rect">
            <a:avLst/>
          </a:prstGeom>
          <a:solidFill>
            <a:srgbClr val="DFF5EC"/>
          </a:solidFill>
          <a:ln w="12700">
            <a:solidFill>
              <a:srgbClr val="B9E8D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Стало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402336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telegram:banksta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telegram:rbc_news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telegram:rian_ru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74920" y="5303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715000" y="4965192"/>
            <a:ext cx="3063240" cy="804672"/>
          </a:xfrm>
          <a:prstGeom prst="rect">
            <a:avLst/>
          </a:prstGeom>
          <a:solidFill>
            <a:srgbClr val="DFF5EC"/>
          </a:solidFill>
          <a:ln w="12700">
            <a:solidFill>
              <a:srgbClr val="B9E8D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 = конкретный канал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87968" y="1627632"/>
            <a:ext cx="24231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F5F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Вывод: для Telegram надо брать часть URL после /s/, а не домен t.me.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87968" y="3401568"/>
            <a:ext cx="24231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Исправление влияет не на кластеры событий, а на число уникальных источников и citation_index.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201400" y="64830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5F98"/>
          </a:solidFill>
          <a:ln w="12700">
            <a:solidFill>
              <a:srgbClr val="2F5F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5F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МЕТРИКА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577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считали цитируемость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115568"/>
            <a:ext cx="108356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89888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Считаем не прямое цитирование, а растиражированность события разными источниками.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3063240" cy="1005840"/>
          </a:xfrm>
          <a:prstGeom prst="rect">
            <a:avLst/>
          </a:prstGeom>
          <a:solidFill>
            <a:srgbClr val="EAF2FB"/>
          </a:solidFill>
          <a:ln w="12700">
            <a:solidFill>
              <a:srgbClr val="B8D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event_sources_count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число уникальных источников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33088" y="24414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0" y="2057400"/>
            <a:ext cx="3063240" cy="1005840"/>
          </a:xfrm>
          <a:prstGeom prst="rect">
            <a:avLst/>
          </a:prstGeom>
          <a:solidFill>
            <a:srgbClr val="FFF2CC"/>
          </a:solidFill>
          <a:ln w="12700">
            <a:solidFill>
              <a:srgbClr val="EFD6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citation_count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max(sources − 1, 0)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10144" y="24414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13648" y="2057400"/>
            <a:ext cx="2743200" cy="1005840"/>
          </a:xfrm>
          <a:prstGeom prst="rect">
            <a:avLst/>
          </a:prstGeom>
          <a:solidFill>
            <a:srgbClr val="DFF5EC"/>
          </a:solidFill>
          <a:ln w="12700">
            <a:solidFill>
              <a:srgbClr val="B9E8D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citation_index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0…100, лог-шкала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4133088"/>
            <a:ext cx="8458200" cy="658368"/>
          </a:xfrm>
          <a:prstGeom prst="rect">
            <a:avLst/>
          </a:prstGeom>
          <a:solidFill>
            <a:srgbClr val="18233A"/>
          </a:solidFill>
          <a:ln w="12700">
            <a:solidFill>
              <a:srgbClr val="1823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= 100 × ln(1 + C) / ln(1 + Cmax)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920240" y="528523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один источник → citation_count = 0
• три источника → citation_count = 2
• лог-шкала сглаживает разницу между крупными и средними инфоповодами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201400" y="64830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5F98"/>
          </a:solidFill>
          <a:ln w="12700">
            <a:solidFill>
              <a:srgbClr val="2F5F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5F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ВЫХОДНЫЕ ФАЙЛЫ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577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Финальный ноутбук: что сохраняется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115568"/>
            <a:ext cx="108356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27632"/>
            <a:ext cx="3291840" cy="685800"/>
          </a:xfrm>
          <a:prstGeom prst="rect">
            <a:avLst/>
          </a:prstGeom>
          <a:solidFill>
            <a:srgbClr val="18233A"/>
          </a:solidFill>
          <a:ln w="12700">
            <a:solidFill>
              <a:srgbClr val="1823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news_final.csv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863840" y="1627632"/>
            <a:ext cx="2743200" cy="6858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events.csv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2697480"/>
            <a:ext cx="3886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news_id, title, text, source
• source_normalized
• company
• industry
• event_id
• citation_count, citation_index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55280" y="269748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event_id
• representative title
• articles_count
• sources_count
• event_sources
• citation metrics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5166360"/>
            <a:ext cx="3566160" cy="566928"/>
          </a:xfrm>
          <a:prstGeom prst="rect">
            <a:avLst/>
          </a:prstGeom>
          <a:solidFill>
            <a:srgbClr val="EAF2FB"/>
          </a:solidFill>
          <a:ln w="12700">
            <a:solidFill>
              <a:srgbClr val="B8D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Одна строка = одна новость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82128" y="5166360"/>
            <a:ext cx="3017520" cy="566928"/>
          </a:xfrm>
          <a:prstGeom prst="rect">
            <a:avLst/>
          </a:prstGeom>
          <a:solidFill>
            <a:srgbClr val="DFF5EC"/>
          </a:solidFill>
          <a:ln w="12700">
            <a:solidFill>
              <a:srgbClr val="B9E8D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Одна строка = один инфоповод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852160" y="33192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5F98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201400" y="64830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5F98"/>
          </a:solidFill>
          <a:ln w="12700">
            <a:solidFill>
              <a:srgbClr val="2F5F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5F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КОНТРОЛЬ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557784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 качества и дальнейшие улучшения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115568"/>
            <a:ext cx="1083564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44752"/>
            <a:ext cx="3154680" cy="594360"/>
          </a:xfrm>
          <a:prstGeom prst="rect">
            <a:avLst/>
          </a:prstGeom>
          <a:solidFill>
            <a:srgbClr val="EAF2FB"/>
          </a:solidFill>
          <a:ln w="12700">
            <a:solidFill>
              <a:srgbClr val="B8D7F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Обязательные проверки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251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20–30 крупнейших кластеров событий
• новости со слабой уверенностью отрасли
• топ нормализованных источников
• случаи company=None для целевых клиентов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0" y="1444752"/>
            <a:ext cx="3154680" cy="594360"/>
          </a:xfrm>
          <a:prstGeom prst="rect">
            <a:avLst/>
          </a:prstGeom>
          <a:solidFill>
            <a:srgbClr val="FFF2CC"/>
          </a:solidFill>
          <a:ln w="12700">
            <a:solidFill>
              <a:srgbClr val="EFD68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можно улучшить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0" y="2331720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ручная разметка 100–200 новостей для валидации
• NER как fallback для любых компаний
• ANN-поиск для больших датасетов
• точное цитирование при наличии времени публикации и URL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5120640"/>
            <a:ext cx="5806440" cy="676656"/>
          </a:xfrm>
          <a:prstGeom prst="rect">
            <a:avLst/>
          </a:prstGeom>
          <a:solidFill>
            <a:srgbClr val="18233A"/>
          </a:solidFill>
          <a:ln w="12700">
            <a:solidFill>
              <a:srgbClr val="1823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Итоговое решение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057400" y="5989320"/>
            <a:ext cx="80010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Пайплайн воспроизводимо строит таблицу с company, industry, event_id и citation_index для каждой новости.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201400" y="648309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451</Words>
  <Application>Microsoft Office PowerPoint</Application>
  <PresentationFormat>Widescreen</PresentationFormat>
  <Paragraphs>153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Цитируемость новостей: NLP-пайплайн</dc:title>
  <dc:subject>Решение задачи цитируемости новостей</dc:subject>
  <dc:creator>OpenAI</dc:creator>
  <cp:lastModifiedBy>Devadevam</cp:lastModifiedBy>
  <cp:revision>2</cp:revision>
  <dcterms:created xsi:type="dcterms:W3CDTF">2026-07-20T15:19:08Z</dcterms:created>
  <dcterms:modified xsi:type="dcterms:W3CDTF">2026-07-20T16:34:34Z</dcterms:modified>
</cp:coreProperties>
</file>